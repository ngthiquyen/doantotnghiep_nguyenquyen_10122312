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321" r:id="rId6"/>
    <p:sldId id="318" r:id="rId7"/>
    <p:sldId id="335" r:id="rId8"/>
    <p:sldId id="324" r:id="rId9"/>
    <p:sldId id="315" r:id="rId10"/>
    <p:sldId id="289" r:id="rId11"/>
    <p:sldId id="325" r:id="rId12"/>
    <p:sldId id="309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6" r:id="rId22"/>
    <p:sldId id="323" r:id="rId23"/>
    <p:sldId id="313" r:id="rId24"/>
    <p:sldId id="261" r:id="rId25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46" roundtripDataSignature="AMtx7mgzalF4DGvfEshU7BVqSP7oz0qt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CECE"/>
    <a:srgbClr val="E9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0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2134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739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9843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83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748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854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188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8503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369278" y="3666392"/>
            <a:ext cx="5196254" cy="1283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EE599"/>
              </a:buClr>
              <a:buSzPts val="4500"/>
              <a:buFont typeface="Calibri"/>
              <a:buNone/>
              <a:defRPr sz="4500" b="1">
                <a:solidFill>
                  <a:srgbClr val="FEE5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369278" y="5178670"/>
            <a:ext cx="484876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None/>
              <a:defRPr sz="2400">
                <a:solidFill>
                  <a:srgbClr val="F2F2F2"/>
                </a:solidFill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body" idx="1"/>
          </p:nvPr>
        </p:nvSpPr>
        <p:spPr>
          <a:xfrm>
            <a:off x="290146" y="861646"/>
            <a:ext cx="8572500" cy="546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7163533" y="6559062"/>
            <a:ext cx="995729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290147" y="6559062"/>
            <a:ext cx="6873386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159262" y="6550271"/>
            <a:ext cx="703384" cy="298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07732" y="395654"/>
            <a:ext cx="844940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6286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2"/>
          </p:nvPr>
        </p:nvSpPr>
        <p:spPr>
          <a:xfrm>
            <a:off x="46291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629841" y="866777"/>
            <a:ext cx="78867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629841" y="987426"/>
            <a:ext cx="2949178" cy="1069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07732" y="16976"/>
            <a:ext cx="7526213" cy="57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3887390" y="987426"/>
            <a:ext cx="4948877" cy="5307866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307732" y="987425"/>
            <a:ext cx="3271287" cy="530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1833197" y="-646235"/>
            <a:ext cx="5512777" cy="856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4893835" y="2555448"/>
            <a:ext cx="5271356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572418" y="640922"/>
            <a:ext cx="5271355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307732" y="879230"/>
            <a:ext cx="8563706" cy="5512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-699264" y="5163715"/>
            <a:ext cx="6985848" cy="259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vi-VN" sz="2000" dirty="0"/>
              <a:t>ỨNG DỤNG AI SINH KEYWORD KIỂM THỬ TỰ ĐỘNG </a:t>
            </a:r>
            <a:br>
              <a:rPr lang="vi-VN" sz="2000" dirty="0"/>
            </a:br>
            <a:r>
              <a:rPr lang="vi-VN" sz="2000" dirty="0"/>
              <a:t>ỨNG DỤNG WEB VỚI ROBOT FRAMEWORK</a:t>
            </a:r>
            <a:br>
              <a:rPr lang="en-US" dirty="0"/>
            </a:br>
            <a:br>
              <a:rPr lang="en-US" dirty="0"/>
            </a:br>
            <a:endParaRPr sz="3000" dirty="0">
              <a:solidFill>
                <a:srgbClr val="FFFF00"/>
              </a:solidFill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735038" y="4626864"/>
            <a:ext cx="4848765" cy="1073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vi-VN" sz="2000" dirty="0"/>
              <a:t>GVHD</a:t>
            </a:r>
            <a:r>
              <a:rPr lang="en-US" sz="2000" dirty="0"/>
              <a:t>: </a:t>
            </a:r>
            <a:r>
              <a:rPr lang="vi-VN" sz="2000" dirty="0"/>
              <a:t>ThS. Đỗ Thị Thu Trang</a:t>
            </a:r>
            <a:endParaRPr sz="2000" dirty="0"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en-US" sz="2000" dirty="0"/>
              <a:t>SV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hiện</a:t>
            </a:r>
            <a:r>
              <a:rPr lang="en-US" sz="2000" dirty="0"/>
              <a:t>: </a:t>
            </a:r>
            <a:r>
              <a:rPr lang="vi-VN" sz="2000" dirty="0"/>
              <a:t>Nguyễn Thị Quyên </a:t>
            </a:r>
            <a:endParaRPr dirty="0"/>
          </a:p>
        </p:txBody>
      </p:sp>
      <p:sp>
        <p:nvSpPr>
          <p:cNvPr id="90" name="Google Shape;90;p1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KHOA CNTT</a:t>
            </a:r>
            <a:endParaRPr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TRƯỜNG ĐẠI HỌC SPKT HƯNG YÊN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-3420" y="39442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853775" y="2155320"/>
            <a:ext cx="554359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dirty="0"/>
          </a:p>
        </p:txBody>
      </p:sp>
      <p:sp>
        <p:nvSpPr>
          <p:cNvPr id="98" name="Google Shape;98;p2"/>
          <p:cNvSpPr/>
          <p:nvPr/>
        </p:nvSpPr>
        <p:spPr>
          <a:xfrm>
            <a:off x="2926660" y="3398022"/>
            <a:ext cx="617162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  <a:endParaRPr lang="vi-VN" sz="1800" dirty="0">
              <a:solidFill>
                <a:schemeClr val="tx1"/>
              </a:solidFill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810353" y="1071437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</a:p>
        </p:txBody>
      </p:sp>
      <p:grpSp>
        <p:nvGrpSpPr>
          <p:cNvPr id="100" name="Google Shape;100;p2"/>
          <p:cNvGrpSpPr/>
          <p:nvPr/>
        </p:nvGrpSpPr>
        <p:grpSpPr>
          <a:xfrm>
            <a:off x="1451528" y="1173724"/>
            <a:ext cx="381000" cy="381000"/>
            <a:chOff x="2078" y="1680"/>
            <a:chExt cx="1615" cy="1615"/>
          </a:xfrm>
        </p:grpSpPr>
        <p:sp>
          <p:nvSpPr>
            <p:cNvPr id="101" name="Google Shape;10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2"/>
          <p:cNvGrpSpPr/>
          <p:nvPr/>
        </p:nvGrpSpPr>
        <p:grpSpPr>
          <a:xfrm>
            <a:off x="2385180" y="2217303"/>
            <a:ext cx="381000" cy="381000"/>
            <a:chOff x="2078" y="1680"/>
            <a:chExt cx="1615" cy="1615"/>
          </a:xfrm>
        </p:grpSpPr>
        <p:sp>
          <p:nvSpPr>
            <p:cNvPr id="115" name="Google Shape;115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2546624" y="3461876"/>
            <a:ext cx="355600" cy="381000"/>
            <a:chOff x="2078" y="1680"/>
            <a:chExt cx="1615" cy="1615"/>
          </a:xfrm>
        </p:grpSpPr>
        <p:sp>
          <p:nvSpPr>
            <p:cNvPr id="122" name="Google Shape;122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"/>
          <p:cNvSpPr/>
          <p:nvPr/>
        </p:nvSpPr>
        <p:spPr>
          <a:xfrm>
            <a:off x="2189753" y="5818940"/>
            <a:ext cx="5343421" cy="529445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Kết luận và hướng phát triển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2881747" y="4673401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Thực nghiệm và đánh giá</a:t>
            </a:r>
            <a:endParaRPr dirty="0"/>
          </a:p>
        </p:txBody>
      </p:sp>
      <p:grpSp>
        <p:nvGrpSpPr>
          <p:cNvPr id="140" name="Google Shape;140;p2"/>
          <p:cNvGrpSpPr/>
          <p:nvPr/>
        </p:nvGrpSpPr>
        <p:grpSpPr>
          <a:xfrm>
            <a:off x="2255782" y="4732872"/>
            <a:ext cx="381000" cy="381000"/>
            <a:chOff x="2078" y="1680"/>
            <a:chExt cx="1615" cy="1615"/>
          </a:xfrm>
        </p:grpSpPr>
        <p:sp>
          <p:nvSpPr>
            <p:cNvPr id="141" name="Google Shape;14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2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148" name="Google Shape;148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  <a:endParaRPr dirty="0"/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lang="vi-VN" dirty="0"/>
              <a:t>Tổng quan bài toán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EB810-8F43-45F1-8B4F-7D85B54AB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6522"/>
            <a:ext cx="9144000" cy="54804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lang="vi-VN" sz="1800" dirty="0"/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49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AI sinh keyword và flow kiểm thử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941349E-EEC7-4753-94E6-E3A02AAB1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211"/>
            <a:ext cx="9144000" cy="564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-118872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quản lý và inject keyword vào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9EF281-72F6-4AA3-AF9A-470E0FCD3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997" y="604376"/>
            <a:ext cx="4028659" cy="62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08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185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Cấu trúc thư mục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9659A-0932-4B5B-B7C5-960AE730F82C}"/>
              </a:ext>
            </a:extLst>
          </p:cNvPr>
          <p:cNvSpPr/>
          <p:nvPr/>
        </p:nvSpPr>
        <p:spPr>
          <a:xfrm>
            <a:off x="683514" y="577935"/>
            <a:ext cx="746379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latin typeface="Times  New Roman"/>
              </a:rPr>
              <a:t>DOANTOTNGHIEP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generate_keywords_use_AI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      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X</a:t>
            </a:r>
            <a:r>
              <a:rPr lang="vi-VN" sz="1500" dirty="0">
                <a:latin typeface="Times  New Roman"/>
              </a:rPr>
              <a:t>ử lý AI sinh keyword, flow, E2E</a:t>
            </a:r>
          </a:p>
          <a:p>
            <a:r>
              <a:rPr lang="en-US" sz="1500" dirty="0">
                <a:latin typeface="Times  New Roman"/>
              </a:rPr>
              <a:t>│ ├── input/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output/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prompt/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generate_keyword.py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generate_e2e.py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keywords/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Q</a:t>
            </a:r>
            <a:r>
              <a:rPr lang="vi-VN" sz="1500" dirty="0">
                <a:latin typeface="Times  New Roman"/>
              </a:rPr>
              <a:t>uản lý keyword theo tầng Business / UI / Verify</a:t>
            </a:r>
          </a:p>
          <a:p>
            <a:r>
              <a:rPr lang="en-US" sz="1500" dirty="0">
                <a:latin typeface="Times  New Roman"/>
              </a:rPr>
              <a:t>│ ├── business/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ui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verify/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</a:t>
            </a:r>
            <a:r>
              <a:rPr lang="en-US" sz="1500" dirty="0" err="1">
                <a:latin typeface="Times  New Roman"/>
              </a:rPr>
              <a:t>base_test.robot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pages/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</a:t>
            </a:r>
            <a:r>
              <a:rPr lang="vi-VN" sz="1500" dirty="0">
                <a:latin typeface="Times  New Roman"/>
              </a:rPr>
              <a:t> Quản lý locator theo Page Object Model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login_page.py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tests/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 	</a:t>
            </a:r>
            <a:r>
              <a:rPr lang="vi-VN" sz="1500" b="1" dirty="0">
                <a:latin typeface="Times  New Roman"/>
                <a:sym typeface="Wingdings" panose="05000000000000000000" pitchFamily="2" charset="2"/>
              </a:rPr>
              <a:t>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C</a:t>
            </a:r>
            <a:r>
              <a:rPr lang="vi-VN" sz="1500" dirty="0">
                <a:latin typeface="Times  New Roman"/>
              </a:rPr>
              <a:t>hứa test script Robot Framework</a:t>
            </a:r>
          </a:p>
          <a:p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login_auto.robot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e2e/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utils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	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H</a:t>
            </a:r>
            <a:r>
              <a:rPr lang="vi-VN" sz="1500" dirty="0">
                <a:latin typeface="Times  New Roman"/>
              </a:rPr>
              <a:t>ỗ trợ log, screenshot, report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logger.py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screenshot.py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allure_helper.py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└── </a:t>
            </a:r>
            <a:r>
              <a:rPr lang="en-US" sz="1500" b="1" dirty="0">
                <a:latin typeface="Times  New Roman"/>
              </a:rPr>
              <a:t>reports/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L</a:t>
            </a:r>
            <a:r>
              <a:rPr lang="vi-VN" sz="1500" dirty="0">
                <a:latin typeface="Times  New Roman"/>
              </a:rPr>
              <a:t>ưu kết quả thực thi kiểm thử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robot/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logs/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3E5D12-1AAC-4FDD-8091-BD06CB7CC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9" y="615705"/>
            <a:ext cx="7942739" cy="616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072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Luồng hoạt động của </a:t>
            </a:r>
            <a:r>
              <a:rPr lang="vi-VN" sz="32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6EBBD5-D3B9-4F43-A627-3EE16897F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704" y="603504"/>
            <a:ext cx="4251960" cy="625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728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669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D0509-8983-4F0F-BAD9-0CE02937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Ứng dụng kiểm thử website Ella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09EF9-4910-4739-B28D-56D7AD8C8667}"/>
              </a:ext>
            </a:extLst>
          </p:cNvPr>
          <p:cNvSpPr txBox="1"/>
          <p:nvPr/>
        </p:nvSpPr>
        <p:spPr>
          <a:xfrm>
            <a:off x="0" y="941832"/>
            <a:ext cx="9144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>
                <a:latin typeface="+mj-lt"/>
              </a:rPr>
              <a:t>1.   Thực nghiệm trên các chức năng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hồ sơ 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E2E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Quy trình thực hiện:</a:t>
            </a:r>
          </a:p>
          <a:p>
            <a:pPr lvl="8"/>
            <a:r>
              <a:rPr lang="vi-VN" sz="2000" dirty="0"/>
              <a:t>	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Keyword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Inject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Flow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Generate file .robot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Tester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Log / Screenshot / Allure Report</a:t>
            </a:r>
          </a:p>
        </p:txBody>
      </p:sp>
    </p:spTree>
    <p:extLst>
      <p:ext uri="{BB962C8B-B14F-4D97-AF65-F5344CB8AC3E}">
        <p14:creationId xmlns:p14="http://schemas.microsoft.com/office/powerpoint/2010/main" val="2383068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5042D-054C-4663-B461-D4FF9657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90398-02CC-499A-99F9-B4799C46CC09}"/>
              </a:ext>
            </a:extLst>
          </p:cNvPr>
          <p:cNvSpPr txBox="1"/>
          <p:nvPr/>
        </p:nvSpPr>
        <p:spPr>
          <a:xfrm>
            <a:off x="548640" y="932688"/>
            <a:ext cx="1832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1. Mô tả đầu vào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E3EB2D-F6C9-4D8C-A288-54227B823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71168"/>
            <a:ext cx="8119872" cy="496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2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34458-12AC-4163-97B6-E956A829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1735A-88B3-48AA-8744-2CF76B5F4DA9}"/>
              </a:ext>
            </a:extLst>
          </p:cNvPr>
          <p:cNvSpPr txBox="1"/>
          <p:nvPr/>
        </p:nvSpPr>
        <p:spPr>
          <a:xfrm>
            <a:off x="603504" y="100584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2. AI sinh keyword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8FB29F-058A-4C40-901B-2AE0B9309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" y="1642627"/>
            <a:ext cx="8966661" cy="457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6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3. Inject vào framework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12E0DE-BD1D-4F9D-9707-2D193828F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3385"/>
            <a:ext cx="9129973" cy="412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7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630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4. AI sinh Flow kiểm thử</a:t>
            </a:r>
            <a:endParaRPr lang="en-US" sz="18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727C15-FEB7-4102-BA07-602D7E6D5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1435608"/>
            <a:ext cx="8732520" cy="265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6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695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5. Hệ thống generate file .robot và teser kiểm tra, thêm logic, dữ liệu 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B596E7-A9CF-4BDF-81D8-F101381E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82" y="1562975"/>
            <a:ext cx="7607691" cy="45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67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2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6. Thực thi kiểm thử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3F649B-1B9A-4C39-B691-C9BB95807353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825" y="1435608"/>
            <a:ext cx="7294055" cy="50349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5282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78A0B7-7B77-493E-907E-A78264004F5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" y="1435608"/>
            <a:ext cx="8302752" cy="47787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647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283427" y="63861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8A63E-85C4-4452-9538-B6899A64967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587" y="1082310"/>
            <a:ext cx="6684264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56D7AE-A620-438D-B05D-F4A2C998F567}"/>
              </a:ext>
            </a:extLst>
          </p:cNvPr>
          <p:cNvSpPr/>
          <p:nvPr/>
        </p:nvSpPr>
        <p:spPr>
          <a:xfrm>
            <a:off x="283427" y="4723084"/>
            <a:ext cx="4572000" cy="21197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Đánh giá: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Sinh được keyword/flow/script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tái sử dụng keyword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log, screenshot, report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Tester vẫn kiểm soát logic</a:t>
            </a:r>
            <a:endParaRPr lang="en-US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6217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6BE-714A-4788-92E0-C1E9E3AE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2CCE46-3FC4-499E-8D78-B6827510C1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5233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262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0DDF4-60FF-4E0D-82DB-C606FF337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Kết luận &amp; Hướng phát triển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908F3-7D69-4887-9BC1-7F70C3CA8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vi-VN" sz="1800" b="1" dirty="0">
                <a:latin typeface="+mj-lt"/>
              </a:rPr>
              <a:t>Kết quả đạt được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Ứng dụng AI sinh keyword, luồng kiểm thử tự động.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Hệ thống cho phép chuyển đổi từ luồng kiểm thử sang </a:t>
            </a:r>
            <a:r>
              <a:rPr lang="en-US" sz="1800" dirty="0">
                <a:latin typeface="Times  New Roman"/>
              </a:rPr>
              <a:t>script </a:t>
            </a:r>
            <a:r>
              <a:rPr lang="vi-VN" sz="1800" dirty="0">
                <a:latin typeface="Times  New Roman"/>
              </a:rPr>
              <a:t>Robot</a:t>
            </a:r>
            <a:r>
              <a:rPr lang="vi-VN" sz="18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Mô hình Keyword-Driven </a:t>
            </a:r>
            <a:r>
              <a:rPr lang="en-US" sz="1800" dirty="0" err="1">
                <a:latin typeface="Times  New Roman"/>
              </a:rPr>
              <a:t>phân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tách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các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tầng</a:t>
            </a:r>
            <a:r>
              <a:rPr lang="en-US" sz="1800" dirty="0">
                <a:latin typeface="Times  New Roman"/>
              </a:rPr>
              <a:t> UI, Business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Verify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Ánh xạ keyword, xây luồng end-to-end.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Kiểm thử chức năng tiêu biểu.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Tích hợp báo cáo Allure, ghi Log, Screenshot.</a:t>
            </a: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r>
              <a:rPr lang="vi-VN" sz="1800" b="1" dirty="0">
                <a:latin typeface="+mj-lt"/>
              </a:rPr>
              <a:t>Hướng phát triển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Nâng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cao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khả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năng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hiểu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ngữ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cảnh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của</a:t>
            </a:r>
            <a:r>
              <a:rPr lang="en-US" sz="1800" dirty="0">
                <a:latin typeface="Times  New Roman"/>
              </a:rPr>
              <a:t> AI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Times  New Roman"/>
              </a:rPr>
              <a:t>Tích hợp CI/CD.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Mở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rộng</a:t>
            </a:r>
            <a:r>
              <a:rPr lang="en-US" sz="1800" dirty="0">
                <a:latin typeface="Times  New Roman"/>
              </a:rPr>
              <a:t> framework </a:t>
            </a:r>
            <a:r>
              <a:rPr lang="en-US" sz="1800" dirty="0" err="1">
                <a:latin typeface="Times  New Roman"/>
              </a:rPr>
              <a:t>hỗ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trợ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kiểm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thử</a:t>
            </a:r>
            <a:r>
              <a:rPr lang="en-US" sz="1800" dirty="0">
                <a:latin typeface="Times  New Roman"/>
              </a:rPr>
              <a:t> API, Mobile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</a:t>
            </a:r>
            <a:r>
              <a:rPr lang="vi-VN" sz="1800" dirty="0">
                <a:latin typeface="Times  New Roman"/>
              </a:rPr>
              <a:t>Desktop.</a:t>
            </a:r>
          </a:p>
          <a:p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460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"/>
          <p:cNvSpPr txBox="1">
            <a:spLocks noGrp="1"/>
          </p:cNvSpPr>
          <p:nvPr>
            <p:ph type="title"/>
          </p:nvPr>
        </p:nvSpPr>
        <p:spPr>
          <a:xfrm>
            <a:off x="628650" y="355795"/>
            <a:ext cx="7886700" cy="61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1565</TotalTime>
  <Words>841</Words>
  <Application>Microsoft Office PowerPoint</Application>
  <PresentationFormat>On-screen Show (4:3)</PresentationFormat>
  <Paragraphs>93</Paragraphs>
  <Slides>24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Times New Roman</vt:lpstr>
      <vt:lpstr>Wingdings</vt:lpstr>
      <vt:lpstr>Times  New Roman</vt:lpstr>
      <vt:lpstr>Calibri</vt:lpstr>
      <vt:lpstr>Arial</vt:lpstr>
      <vt:lpstr>Office Theme</vt:lpstr>
      <vt:lpstr>ỨNG DỤNG AI SINH KEYWORD KIỂM THỬ TỰ ĐỘNG  ỨNG DỤNG WEB VỚI ROBOT FRAMEWORK  </vt:lpstr>
      <vt:lpstr>Nội dung</vt:lpstr>
      <vt:lpstr>Nội dung</vt:lpstr>
      <vt:lpstr>Tổng quan bài toán</vt:lpstr>
      <vt:lpstr>Nội dung</vt:lpstr>
      <vt:lpstr> Cơ chế AI sinh keyword và flow kiểm thử </vt:lpstr>
      <vt:lpstr> Cơ chế quản lý và inject keyword vào framework </vt:lpstr>
      <vt:lpstr>Nội dung</vt:lpstr>
      <vt:lpstr> Cấu trúc thư mục framework </vt:lpstr>
      <vt:lpstr> Luồng hoạt động của framework </vt:lpstr>
      <vt:lpstr>Nội dung</vt:lpstr>
      <vt:lpstr>Ứng dụng kiểm thử website Ella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Nội dung</vt:lpstr>
      <vt:lpstr>Kết luận &amp; Hướng phát triển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PHÁT TRIỂN. QUẢN LÝ CẤU HÌNH PHẦN MỀM BẰNG SVN Đảm bảo chất lượng phần mềm</dc:title>
  <dc:creator>Đỗ Thị Thu Trang</dc:creator>
  <cp:lastModifiedBy>Dell</cp:lastModifiedBy>
  <cp:revision>195</cp:revision>
  <dcterms:created xsi:type="dcterms:W3CDTF">2024-09-27T15:40:07Z</dcterms:created>
  <dcterms:modified xsi:type="dcterms:W3CDTF">2026-05-18T20:44:59Z</dcterms:modified>
</cp:coreProperties>
</file>