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321" r:id="rId6"/>
    <p:sldId id="318" r:id="rId7"/>
    <p:sldId id="324" r:id="rId8"/>
    <p:sldId id="315" r:id="rId9"/>
    <p:sldId id="289" r:id="rId10"/>
    <p:sldId id="325" r:id="rId11"/>
    <p:sldId id="309" r:id="rId12"/>
    <p:sldId id="327" r:id="rId13"/>
    <p:sldId id="328" r:id="rId14"/>
    <p:sldId id="329" r:id="rId15"/>
    <p:sldId id="330" r:id="rId16"/>
    <p:sldId id="331" r:id="rId17"/>
    <p:sldId id="332" r:id="rId18"/>
    <p:sldId id="333" r:id="rId19"/>
    <p:sldId id="334" r:id="rId20"/>
    <p:sldId id="323" r:id="rId21"/>
    <p:sldId id="313" r:id="rId22"/>
    <p:sldId id="261" r:id="rId23"/>
  </p:sldIdLst>
  <p:sldSz cx="9144000" cy="6858000" type="screen4x3"/>
  <p:notesSz cx="6858000" cy="9144000"/>
  <p:embeddedFontLst>
    <p:embeddedFont>
      <p:font typeface="Calibri" panose="020F0502020204030204" pitchFamily="34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6" roundtripDataSignature="AMtx7mgzalF4DGvfEshU7BVqSP7oz0qtV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0CECE"/>
    <a:srgbClr val="E9EB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0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46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48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021347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47391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60838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467488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68540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418889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185030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>
            <a:spLocks noGrp="1"/>
          </p:cNvSpPr>
          <p:nvPr>
            <p:ph type="ctrTitle"/>
          </p:nvPr>
        </p:nvSpPr>
        <p:spPr>
          <a:xfrm>
            <a:off x="369278" y="3666392"/>
            <a:ext cx="5196254" cy="12836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EE599"/>
              </a:buClr>
              <a:buSzPts val="4500"/>
              <a:buFont typeface="Calibri"/>
              <a:buNone/>
              <a:defRPr sz="4500" b="1">
                <a:solidFill>
                  <a:srgbClr val="FEE599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8"/>
          <p:cNvSpPr txBox="1">
            <a:spLocks noGrp="1"/>
          </p:cNvSpPr>
          <p:nvPr>
            <p:ph type="subTitle" idx="1"/>
          </p:nvPr>
        </p:nvSpPr>
        <p:spPr>
          <a:xfrm>
            <a:off x="369278" y="5178670"/>
            <a:ext cx="484876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2400"/>
              <a:buNone/>
              <a:defRPr sz="2400">
                <a:solidFill>
                  <a:srgbClr val="F2F2F2"/>
                </a:solidFill>
              </a:defRPr>
            </a:lvl1pPr>
            <a:lvl2pPr lvl="1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8"/>
          <p:cNvSpPr txBox="1">
            <a:spLocks noGrp="1"/>
          </p:cNvSpPr>
          <p:nvPr>
            <p:ph type="body" idx="2"/>
          </p:nvPr>
        </p:nvSpPr>
        <p:spPr>
          <a:xfrm>
            <a:off x="369278" y="5794132"/>
            <a:ext cx="4848765" cy="918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None/>
              <a:defRPr sz="2000">
                <a:solidFill>
                  <a:srgbClr val="7F7F7F"/>
                </a:solidFill>
              </a:defRPr>
            </a:lvl1pPr>
            <a:lvl2pPr marL="914400" lvl="1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9"/>
          <p:cNvSpPr txBox="1">
            <a:spLocks noGrp="1"/>
          </p:cNvSpPr>
          <p:nvPr>
            <p:ph type="title"/>
          </p:nvPr>
        </p:nvSpPr>
        <p:spPr>
          <a:xfrm>
            <a:off x="290146" y="0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  <a:defRPr sz="36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9"/>
          <p:cNvSpPr txBox="1">
            <a:spLocks noGrp="1"/>
          </p:cNvSpPr>
          <p:nvPr>
            <p:ph type="body" idx="1"/>
          </p:nvPr>
        </p:nvSpPr>
        <p:spPr>
          <a:xfrm>
            <a:off x="290146" y="861646"/>
            <a:ext cx="8572500" cy="54600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9"/>
          <p:cNvSpPr txBox="1">
            <a:spLocks noGrp="1"/>
          </p:cNvSpPr>
          <p:nvPr>
            <p:ph type="dt" idx="10"/>
          </p:nvPr>
        </p:nvSpPr>
        <p:spPr>
          <a:xfrm>
            <a:off x="7163533" y="6559062"/>
            <a:ext cx="995729" cy="298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9"/>
          <p:cNvSpPr txBox="1">
            <a:spLocks noGrp="1"/>
          </p:cNvSpPr>
          <p:nvPr>
            <p:ph type="ftr" idx="11"/>
          </p:nvPr>
        </p:nvSpPr>
        <p:spPr>
          <a:xfrm>
            <a:off x="290147" y="6559062"/>
            <a:ext cx="6873386" cy="298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"/>
          <p:cNvSpPr txBox="1">
            <a:spLocks noGrp="1"/>
          </p:cNvSpPr>
          <p:nvPr>
            <p:ph type="sldNum" idx="12"/>
          </p:nvPr>
        </p:nvSpPr>
        <p:spPr>
          <a:xfrm>
            <a:off x="8159262" y="6550271"/>
            <a:ext cx="703384" cy="298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0"/>
          <p:cNvSpPr txBox="1">
            <a:spLocks noGrp="1"/>
          </p:cNvSpPr>
          <p:nvPr>
            <p:ph type="title"/>
          </p:nvPr>
        </p:nvSpPr>
        <p:spPr>
          <a:xfrm>
            <a:off x="307732" y="395654"/>
            <a:ext cx="8449406" cy="580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1"/>
          <p:cNvSpPr txBox="1"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1"/>
          <p:cNvSpPr txBox="1"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1pPr>
            <a:lvl2pPr marL="914400" lvl="1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1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1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2"/>
          <p:cNvSpPr txBox="1">
            <a:spLocks noGrp="1"/>
          </p:cNvSpPr>
          <p:nvPr>
            <p:ph type="title"/>
          </p:nvPr>
        </p:nvSpPr>
        <p:spPr>
          <a:xfrm>
            <a:off x="307732" y="1"/>
            <a:ext cx="7605346" cy="580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2"/>
          <p:cNvSpPr txBox="1">
            <a:spLocks noGrp="1"/>
          </p:cNvSpPr>
          <p:nvPr>
            <p:ph type="body" idx="1"/>
          </p:nvPr>
        </p:nvSpPr>
        <p:spPr>
          <a:xfrm>
            <a:off x="628650" y="1046285"/>
            <a:ext cx="3886200" cy="5130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2"/>
          <p:cNvSpPr txBox="1">
            <a:spLocks noGrp="1"/>
          </p:cNvSpPr>
          <p:nvPr>
            <p:ph type="body" idx="2"/>
          </p:nvPr>
        </p:nvSpPr>
        <p:spPr>
          <a:xfrm>
            <a:off x="4629150" y="1046285"/>
            <a:ext cx="3886200" cy="5130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2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629841" y="866777"/>
            <a:ext cx="78867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body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3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3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4"/>
          <p:cNvSpPr txBox="1">
            <a:spLocks noGrp="1"/>
          </p:cNvSpPr>
          <p:nvPr>
            <p:ph type="title"/>
          </p:nvPr>
        </p:nvSpPr>
        <p:spPr>
          <a:xfrm>
            <a:off x="307732" y="1"/>
            <a:ext cx="7605346" cy="580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5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5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 txBox="1">
            <a:spLocks noGrp="1"/>
          </p:cNvSpPr>
          <p:nvPr>
            <p:ph type="title"/>
          </p:nvPr>
        </p:nvSpPr>
        <p:spPr>
          <a:xfrm>
            <a:off x="629841" y="987426"/>
            <a:ext cx="2949178" cy="1069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6"/>
          <p:cNvSpPr txBox="1">
            <a:spLocks noGrp="1"/>
          </p:cNvSpPr>
          <p:nvPr>
            <p:ph type="body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6"/>
          <p:cNvSpPr txBox="1"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>
            <a:off x="307732" y="16976"/>
            <a:ext cx="7526213" cy="572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>
            <a:spLocks noGrp="1"/>
          </p:cNvSpPr>
          <p:nvPr>
            <p:ph type="pic" idx="2"/>
          </p:nvPr>
        </p:nvSpPr>
        <p:spPr>
          <a:xfrm>
            <a:off x="3887390" y="987426"/>
            <a:ext cx="4948877" cy="5307866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7"/>
          <p:cNvSpPr txBox="1">
            <a:spLocks noGrp="1"/>
          </p:cNvSpPr>
          <p:nvPr>
            <p:ph type="body" idx="1"/>
          </p:nvPr>
        </p:nvSpPr>
        <p:spPr>
          <a:xfrm>
            <a:off x="307732" y="987425"/>
            <a:ext cx="3271287" cy="5307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7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307732" y="1"/>
            <a:ext cx="7605346" cy="580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body" idx="1"/>
          </p:nvPr>
        </p:nvSpPr>
        <p:spPr>
          <a:xfrm rot="5400000">
            <a:off x="1833197" y="-646235"/>
            <a:ext cx="5512777" cy="85637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8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9"/>
          <p:cNvSpPr txBox="1">
            <a:spLocks noGrp="1"/>
          </p:cNvSpPr>
          <p:nvPr>
            <p:ph type="title"/>
          </p:nvPr>
        </p:nvSpPr>
        <p:spPr>
          <a:xfrm rot="5400000">
            <a:off x="4893835" y="2555448"/>
            <a:ext cx="5271356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9"/>
          <p:cNvSpPr txBox="1">
            <a:spLocks noGrp="1"/>
          </p:cNvSpPr>
          <p:nvPr>
            <p:ph type="body" idx="1"/>
          </p:nvPr>
        </p:nvSpPr>
        <p:spPr>
          <a:xfrm rot="5400000">
            <a:off x="572418" y="640922"/>
            <a:ext cx="5271355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9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4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>
            <a:spLocks noGrp="1"/>
          </p:cNvSpPr>
          <p:nvPr>
            <p:ph type="title"/>
          </p:nvPr>
        </p:nvSpPr>
        <p:spPr>
          <a:xfrm>
            <a:off x="307732" y="1"/>
            <a:ext cx="7605346" cy="580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3200"/>
              <a:buFont typeface="Calibri"/>
              <a:buNone/>
              <a:defRPr sz="3200" b="1" i="0" u="none" strike="noStrike" cap="none">
                <a:solidFill>
                  <a:srgbClr val="F2F2F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7"/>
          <p:cNvSpPr txBox="1">
            <a:spLocks noGrp="1"/>
          </p:cNvSpPr>
          <p:nvPr>
            <p:ph type="body" idx="1"/>
          </p:nvPr>
        </p:nvSpPr>
        <p:spPr>
          <a:xfrm>
            <a:off x="307732" y="879230"/>
            <a:ext cx="8563706" cy="5512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just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just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just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just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7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F2F2F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7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1F386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7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>
            <a:spLocks noGrp="1"/>
          </p:cNvSpPr>
          <p:nvPr>
            <p:ph type="ctrTitle"/>
          </p:nvPr>
        </p:nvSpPr>
        <p:spPr>
          <a:xfrm>
            <a:off x="-699264" y="5163715"/>
            <a:ext cx="6985848" cy="259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vi-VN" sz="2000" dirty="0"/>
              <a:t>ỨNG DỤNG AI SINH KEYWORD KIỂM THỬ TỰ ĐỘNG </a:t>
            </a:r>
            <a:br>
              <a:rPr lang="vi-VN" sz="2000" dirty="0"/>
            </a:br>
            <a:r>
              <a:rPr lang="vi-VN" sz="2000" dirty="0"/>
              <a:t>ỨNG DỤNG WEB VỚI ROBOT FRAMEWORK</a:t>
            </a:r>
            <a:br>
              <a:rPr lang="en-US" dirty="0"/>
            </a:br>
            <a:br>
              <a:rPr lang="en-US" dirty="0"/>
            </a:br>
            <a:endParaRPr sz="3000" dirty="0">
              <a:solidFill>
                <a:srgbClr val="FFFF00"/>
              </a:solidFill>
            </a:endParaRPr>
          </a:p>
        </p:txBody>
      </p:sp>
      <p:sp>
        <p:nvSpPr>
          <p:cNvPr id="89" name="Google Shape;89;p1"/>
          <p:cNvSpPr txBox="1">
            <a:spLocks noGrp="1"/>
          </p:cNvSpPr>
          <p:nvPr>
            <p:ph type="subTitle" idx="1"/>
          </p:nvPr>
        </p:nvSpPr>
        <p:spPr>
          <a:xfrm>
            <a:off x="735038" y="4626864"/>
            <a:ext cx="4848765" cy="1073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2000"/>
              <a:buNone/>
            </a:pPr>
            <a:r>
              <a:rPr lang="vi-VN" sz="2000" dirty="0"/>
              <a:t>GVHD</a:t>
            </a:r>
            <a:r>
              <a:rPr lang="en-US" sz="2000" dirty="0"/>
              <a:t>: </a:t>
            </a:r>
            <a:r>
              <a:rPr lang="vi-VN" sz="2000" dirty="0"/>
              <a:t>ThS. Đỗ Thị Thu Trang</a:t>
            </a:r>
            <a:endParaRPr sz="2000" dirty="0"/>
          </a:p>
          <a:p>
            <a:pPr marL="0" lvl="0" indent="0" algn="ctr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F2F2F2"/>
              </a:buClr>
              <a:buSzPts val="2000"/>
              <a:buNone/>
            </a:pPr>
            <a:r>
              <a:rPr lang="en-US" sz="2000" dirty="0"/>
              <a:t>SV </a:t>
            </a:r>
            <a:r>
              <a:rPr lang="en-US" sz="2000" dirty="0" err="1"/>
              <a:t>thực</a:t>
            </a:r>
            <a:r>
              <a:rPr lang="en-US" sz="2000" dirty="0"/>
              <a:t> </a:t>
            </a:r>
            <a:r>
              <a:rPr lang="en-US" sz="2000" dirty="0" err="1"/>
              <a:t>hiện</a:t>
            </a:r>
            <a:r>
              <a:rPr lang="en-US" sz="2000" dirty="0"/>
              <a:t>: </a:t>
            </a:r>
            <a:r>
              <a:rPr lang="vi-VN" sz="2000" dirty="0"/>
              <a:t>Nguyễn Thị Quyên </a:t>
            </a:r>
            <a:endParaRPr dirty="0"/>
          </a:p>
        </p:txBody>
      </p:sp>
      <p:sp>
        <p:nvSpPr>
          <p:cNvPr id="90" name="Google Shape;90;p1"/>
          <p:cNvSpPr txBox="1">
            <a:spLocks noGrp="1"/>
          </p:cNvSpPr>
          <p:nvPr>
            <p:ph type="body" idx="2"/>
          </p:nvPr>
        </p:nvSpPr>
        <p:spPr>
          <a:xfrm>
            <a:off x="369278" y="5794132"/>
            <a:ext cx="4848765" cy="918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2000"/>
              <a:buNone/>
            </a:pPr>
            <a:r>
              <a:rPr lang="en-US" b="1">
                <a:solidFill>
                  <a:srgbClr val="2F5496"/>
                </a:solidFill>
                <a:latin typeface="Arial"/>
                <a:ea typeface="Arial"/>
                <a:cs typeface="Arial"/>
                <a:sym typeface="Arial"/>
              </a:rPr>
              <a:t>KHOA CNTT</a:t>
            </a:r>
            <a:endParaRPr/>
          </a:p>
          <a:p>
            <a:pPr marL="0" lvl="0" indent="0" algn="ctr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2F5496"/>
              </a:buClr>
              <a:buSzPts val="2000"/>
              <a:buNone/>
            </a:pPr>
            <a:r>
              <a:rPr lang="en-US" b="1">
                <a:solidFill>
                  <a:srgbClr val="2F5496"/>
                </a:solidFill>
                <a:latin typeface="Arial"/>
                <a:ea typeface="Arial"/>
                <a:cs typeface="Arial"/>
                <a:sym typeface="Arial"/>
              </a:rPr>
              <a:t>TRƯỜNG ĐẠI HỌC SPKT HƯNG YÊN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 txBox="1">
            <a:spLocks noGrp="1"/>
          </p:cNvSpPr>
          <p:nvPr>
            <p:ph type="title"/>
          </p:nvPr>
        </p:nvSpPr>
        <p:spPr>
          <a:xfrm>
            <a:off x="-3420" y="39442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</a:pPr>
            <a:r>
              <a:rPr lang="en-US" sz="3200"/>
              <a:t>Nội dung</a:t>
            </a:r>
            <a:endParaRPr/>
          </a:p>
        </p:txBody>
      </p:sp>
      <p:sp>
        <p:nvSpPr>
          <p:cNvPr id="97" name="Google Shape;97;p2"/>
          <p:cNvSpPr/>
          <p:nvPr/>
        </p:nvSpPr>
        <p:spPr>
          <a:xfrm>
            <a:off x="2853775" y="2155320"/>
            <a:ext cx="554359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chemeClr val="dk1"/>
                </a:solidFill>
              </a:rPr>
              <a:t>Cơ chế AI sinh keyword và flow kiểm thử</a:t>
            </a:r>
            <a:endParaRPr dirty="0"/>
          </a:p>
        </p:txBody>
      </p:sp>
      <p:sp>
        <p:nvSpPr>
          <p:cNvPr id="98" name="Google Shape;98;p2"/>
          <p:cNvSpPr/>
          <p:nvPr/>
        </p:nvSpPr>
        <p:spPr>
          <a:xfrm>
            <a:off x="2926660" y="3398022"/>
            <a:ext cx="617162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chemeClr val="tx1"/>
                </a:solidFill>
              </a:rPr>
              <a:t>Kiến trúc framework kiểm thử tự động</a:t>
            </a:r>
            <a:endParaRPr lang="vi-VN" sz="1800" dirty="0">
              <a:solidFill>
                <a:schemeClr val="tx1"/>
              </a:solidFill>
            </a:endParaRPr>
          </a:p>
        </p:txBody>
      </p:sp>
      <p:sp>
        <p:nvSpPr>
          <p:cNvPr id="99" name="Google Shape;99;p2"/>
          <p:cNvSpPr/>
          <p:nvPr/>
        </p:nvSpPr>
        <p:spPr>
          <a:xfrm>
            <a:off x="1810353" y="1071437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chemeClr val="dk1"/>
                </a:solidFill>
              </a:rPr>
              <a:t>Tổng quan bài toán</a:t>
            </a:r>
          </a:p>
        </p:txBody>
      </p:sp>
      <p:grpSp>
        <p:nvGrpSpPr>
          <p:cNvPr id="100" name="Google Shape;100;p2"/>
          <p:cNvGrpSpPr/>
          <p:nvPr/>
        </p:nvGrpSpPr>
        <p:grpSpPr>
          <a:xfrm>
            <a:off x="1451528" y="1173724"/>
            <a:ext cx="381000" cy="381000"/>
            <a:chOff x="2078" y="1680"/>
            <a:chExt cx="1615" cy="1615"/>
          </a:xfrm>
        </p:grpSpPr>
        <p:sp>
          <p:nvSpPr>
            <p:cNvPr id="101" name="Google Shape;101;p2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2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3" name="Google Shape;103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04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" name="Google Shape;114;p2"/>
          <p:cNvGrpSpPr/>
          <p:nvPr/>
        </p:nvGrpSpPr>
        <p:grpSpPr>
          <a:xfrm>
            <a:off x="2385180" y="2217303"/>
            <a:ext cx="381000" cy="381000"/>
            <a:chOff x="2078" y="1680"/>
            <a:chExt cx="1615" cy="1615"/>
          </a:xfrm>
        </p:grpSpPr>
        <p:sp>
          <p:nvSpPr>
            <p:cNvPr id="115" name="Google Shape;115;p2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" name="Google Shape;116;p2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" name="Google Shape;117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8" name="Google Shape;118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7E9E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" name="Google Shape;119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" name="Google Shape;120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80A2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1" name="Google Shape;121;p2"/>
          <p:cNvGrpSpPr/>
          <p:nvPr/>
        </p:nvGrpSpPr>
        <p:grpSpPr>
          <a:xfrm>
            <a:off x="2546624" y="3461876"/>
            <a:ext cx="355600" cy="381000"/>
            <a:chOff x="2078" y="1680"/>
            <a:chExt cx="1615" cy="1615"/>
          </a:xfrm>
        </p:grpSpPr>
        <p:sp>
          <p:nvSpPr>
            <p:cNvPr id="122" name="Google Shape;122;p2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" name="Google Shape;123;p2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E35E23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" name="Google Shape;126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" name="Google Shape;127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E35E23"/>
                </a:gs>
                <a:gs pos="100000">
                  <a:srgbClr val="A34319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8" name="Google Shape;128;p2"/>
          <p:cNvSpPr/>
          <p:nvPr/>
        </p:nvSpPr>
        <p:spPr>
          <a:xfrm>
            <a:off x="2189753" y="5818940"/>
            <a:ext cx="5343421" cy="529445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chemeClr val="dk1"/>
                </a:solidFill>
              </a:rPr>
              <a:t>Kết luận và hướng phát triển</a:t>
            </a:r>
            <a:endParaRPr dirty="0"/>
          </a:p>
        </p:txBody>
      </p:sp>
      <p:sp>
        <p:nvSpPr>
          <p:cNvPr id="136" name="Google Shape;136;p2"/>
          <p:cNvSpPr/>
          <p:nvPr/>
        </p:nvSpPr>
        <p:spPr>
          <a:xfrm rot="5400000">
            <a:off x="-2403921" y="1239529"/>
            <a:ext cx="4824413" cy="4770438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323" y="10641"/>
                </a:moveTo>
                <a:cubicBezTo>
                  <a:pt x="410" y="4916"/>
                  <a:pt x="5075" y="321"/>
                  <a:pt x="10800" y="322"/>
                </a:cubicBezTo>
                <a:cubicBezTo>
                  <a:pt x="16524" y="322"/>
                  <a:pt x="21189" y="4916"/>
                  <a:pt x="21276" y="10641"/>
                </a:cubicBezTo>
                <a:lnTo>
                  <a:pt x="21598" y="10636"/>
                </a:lnTo>
                <a:cubicBezTo>
                  <a:pt x="21509" y="4736"/>
                  <a:pt x="16700" y="-1"/>
                  <a:pt x="10799" y="0"/>
                </a:cubicBezTo>
                <a:cubicBezTo>
                  <a:pt x="4899" y="0"/>
                  <a:pt x="90" y="4736"/>
                  <a:pt x="1" y="10636"/>
                </a:cubicBezTo>
                <a:close/>
              </a:path>
            </a:pathLst>
          </a:custGeom>
          <a:gradFill>
            <a:gsLst>
              <a:gs pos="0">
                <a:srgbClr val="F4F4F4"/>
              </a:gs>
              <a:gs pos="50000">
                <a:schemeClr val="lt2"/>
              </a:gs>
              <a:gs pos="100000">
                <a:srgbClr val="F4F4F4"/>
              </a:gs>
            </a:gsLst>
            <a:lin ang="0" scaled="0"/>
          </a:gradFill>
          <a:ln w="9525" cap="flat" cmpd="sng">
            <a:solidFill>
              <a:srgbClr val="B3AB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2"/>
          <p:cNvSpPr/>
          <p:nvPr/>
        </p:nvSpPr>
        <p:spPr>
          <a:xfrm rot="5400000" flipH="1">
            <a:off x="-1998313" y="1675297"/>
            <a:ext cx="4032250" cy="392906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44" y="10800"/>
                </a:moveTo>
                <a:cubicBezTo>
                  <a:pt x="10744" y="10769"/>
                  <a:pt x="10769" y="10744"/>
                  <a:pt x="10800" y="10744"/>
                </a:cubicBezTo>
                <a:cubicBezTo>
                  <a:pt x="10830" y="10743"/>
                  <a:pt x="10855" y="10769"/>
                  <a:pt x="10856" y="10799"/>
                </a:cubicBezTo>
                <a:lnTo>
                  <a:pt x="21600" y="10800"/>
                </a:ln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lose/>
              </a:path>
            </a:pathLst>
          </a:custGeom>
          <a:solidFill>
            <a:srgbClr val="C1DB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2"/>
          <p:cNvSpPr/>
          <p:nvPr/>
        </p:nvSpPr>
        <p:spPr>
          <a:xfrm>
            <a:off x="2881747" y="4673401"/>
            <a:ext cx="5424985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chemeClr val="dk1"/>
                </a:solidFill>
              </a:rPr>
              <a:t>Thực nghiệm và đánh giá</a:t>
            </a:r>
            <a:endParaRPr dirty="0"/>
          </a:p>
        </p:txBody>
      </p:sp>
      <p:grpSp>
        <p:nvGrpSpPr>
          <p:cNvPr id="140" name="Google Shape;140;p2"/>
          <p:cNvGrpSpPr/>
          <p:nvPr/>
        </p:nvGrpSpPr>
        <p:grpSpPr>
          <a:xfrm>
            <a:off x="2255782" y="4732872"/>
            <a:ext cx="381000" cy="381000"/>
            <a:chOff x="2078" y="1680"/>
            <a:chExt cx="1615" cy="1615"/>
          </a:xfrm>
        </p:grpSpPr>
        <p:sp>
          <p:nvSpPr>
            <p:cNvPr id="141" name="Google Shape;141;p2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2" name="Google Shape;142;p2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3" name="Google Shape;143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4" name="Google Shape;144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" name="Google Shape;145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" name="Google Shape;146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7" name="Google Shape;147;p2"/>
          <p:cNvGrpSpPr/>
          <p:nvPr/>
        </p:nvGrpSpPr>
        <p:grpSpPr>
          <a:xfrm>
            <a:off x="1589122" y="5865161"/>
            <a:ext cx="381000" cy="381000"/>
            <a:chOff x="2078" y="1680"/>
            <a:chExt cx="1615" cy="1615"/>
          </a:xfrm>
        </p:grpSpPr>
        <p:sp>
          <p:nvSpPr>
            <p:cNvPr id="148" name="Google Shape;148;p2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48BE67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2" name="Google Shape;152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3" name="Google Shape;153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48BE67"/>
                </a:gs>
                <a:gs pos="100000">
                  <a:srgbClr val="33884A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"/>
          <p:cNvSpPr txBox="1">
            <a:spLocks noGrp="1"/>
          </p:cNvSpPr>
          <p:nvPr>
            <p:ph type="title"/>
          </p:nvPr>
        </p:nvSpPr>
        <p:spPr>
          <a:xfrm>
            <a:off x="290146" y="0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</a:pPr>
            <a:r>
              <a:rPr lang="en-US" sz="3200"/>
              <a:t>Nội dung</a:t>
            </a:r>
            <a:endParaRPr/>
          </a:p>
        </p:txBody>
      </p:sp>
      <p:sp>
        <p:nvSpPr>
          <p:cNvPr id="159" name="Google Shape;159;p3"/>
          <p:cNvSpPr/>
          <p:nvPr/>
        </p:nvSpPr>
        <p:spPr>
          <a:xfrm>
            <a:off x="2707871" y="1910542"/>
            <a:ext cx="5612567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Cơ chế AI sinh keyword và flow kiểm thử</a:t>
            </a:r>
          </a:p>
        </p:txBody>
      </p:sp>
      <p:sp>
        <p:nvSpPr>
          <p:cNvPr id="160" name="Google Shape;160;p3"/>
          <p:cNvSpPr/>
          <p:nvPr/>
        </p:nvSpPr>
        <p:spPr>
          <a:xfrm>
            <a:off x="2962656" y="3231999"/>
            <a:ext cx="612648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Kiến trúc framework kiểm thử tự động</a:t>
            </a:r>
          </a:p>
        </p:txBody>
      </p:sp>
      <p:sp>
        <p:nvSpPr>
          <p:cNvPr id="162" name="Google Shape;162;p3"/>
          <p:cNvSpPr/>
          <p:nvPr/>
        </p:nvSpPr>
        <p:spPr>
          <a:xfrm>
            <a:off x="1472079" y="866179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chemeClr val="dk1"/>
                </a:solidFill>
              </a:rPr>
              <a:t>Tổng quan bài toán</a:t>
            </a:r>
            <a:endParaRPr dirty="0"/>
          </a:p>
        </p:txBody>
      </p:sp>
      <p:grpSp>
        <p:nvGrpSpPr>
          <p:cNvPr id="163" name="Google Shape;163;p3"/>
          <p:cNvGrpSpPr/>
          <p:nvPr/>
        </p:nvGrpSpPr>
        <p:grpSpPr>
          <a:xfrm>
            <a:off x="1154579" y="955079"/>
            <a:ext cx="381000" cy="381000"/>
            <a:chOff x="2078" y="1680"/>
            <a:chExt cx="1615" cy="1615"/>
          </a:xfrm>
        </p:grpSpPr>
        <p:sp>
          <p:nvSpPr>
            <p:cNvPr id="164" name="Google Shape;16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" name="Google Shape;16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" name="Google Shape;16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" name="Google Shape;16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7" name="Google Shape;177;p3"/>
          <p:cNvGrpSpPr/>
          <p:nvPr/>
        </p:nvGrpSpPr>
        <p:grpSpPr>
          <a:xfrm>
            <a:off x="2187883" y="1973396"/>
            <a:ext cx="381000" cy="381000"/>
            <a:chOff x="2078" y="1680"/>
            <a:chExt cx="1615" cy="1615"/>
          </a:xfrm>
        </p:grpSpPr>
        <p:sp>
          <p:nvSpPr>
            <p:cNvPr id="178" name="Google Shape;178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7E9E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" name="Google Shape;183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80A2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3"/>
          <p:cNvGrpSpPr/>
          <p:nvPr/>
        </p:nvGrpSpPr>
        <p:grpSpPr>
          <a:xfrm>
            <a:off x="2568883" y="3311314"/>
            <a:ext cx="355600" cy="381000"/>
            <a:chOff x="2078" y="1680"/>
            <a:chExt cx="1615" cy="1615"/>
          </a:xfrm>
        </p:grpSpPr>
        <p:sp>
          <p:nvSpPr>
            <p:cNvPr id="185" name="Google Shape;185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E35E23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E35E23"/>
                </a:gs>
                <a:gs pos="100000">
                  <a:srgbClr val="A34319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9" name="Google Shape;199;p3"/>
          <p:cNvSpPr/>
          <p:nvPr/>
        </p:nvSpPr>
        <p:spPr>
          <a:xfrm rot="5400000">
            <a:off x="-2403921" y="1239529"/>
            <a:ext cx="4824413" cy="4770438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323" y="10641"/>
                </a:moveTo>
                <a:cubicBezTo>
                  <a:pt x="410" y="4916"/>
                  <a:pt x="5075" y="321"/>
                  <a:pt x="10800" y="322"/>
                </a:cubicBezTo>
                <a:cubicBezTo>
                  <a:pt x="16524" y="322"/>
                  <a:pt x="21189" y="4916"/>
                  <a:pt x="21276" y="10641"/>
                </a:cubicBezTo>
                <a:lnTo>
                  <a:pt x="21598" y="10636"/>
                </a:lnTo>
                <a:cubicBezTo>
                  <a:pt x="21509" y="4736"/>
                  <a:pt x="16700" y="-1"/>
                  <a:pt x="10799" y="0"/>
                </a:cubicBezTo>
                <a:cubicBezTo>
                  <a:pt x="4899" y="0"/>
                  <a:pt x="90" y="4736"/>
                  <a:pt x="1" y="10636"/>
                </a:cubicBezTo>
                <a:close/>
              </a:path>
            </a:pathLst>
          </a:custGeom>
          <a:gradFill>
            <a:gsLst>
              <a:gs pos="0">
                <a:srgbClr val="F4F4F4"/>
              </a:gs>
              <a:gs pos="50000">
                <a:schemeClr val="lt2"/>
              </a:gs>
              <a:gs pos="100000">
                <a:srgbClr val="F4F4F4"/>
              </a:gs>
            </a:gsLst>
            <a:lin ang="0" scaled="0"/>
          </a:gradFill>
          <a:ln w="9525" cap="flat" cmpd="sng">
            <a:solidFill>
              <a:srgbClr val="B3AB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"/>
          <p:cNvSpPr/>
          <p:nvPr/>
        </p:nvSpPr>
        <p:spPr>
          <a:xfrm rot="5400000" flipH="1">
            <a:off x="-1998313" y="1675297"/>
            <a:ext cx="4032250" cy="392906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44" y="10800"/>
                </a:moveTo>
                <a:cubicBezTo>
                  <a:pt x="10744" y="10769"/>
                  <a:pt x="10769" y="10744"/>
                  <a:pt x="10800" y="10744"/>
                </a:cubicBezTo>
                <a:cubicBezTo>
                  <a:pt x="10830" y="10743"/>
                  <a:pt x="10855" y="10769"/>
                  <a:pt x="10856" y="10799"/>
                </a:cubicBezTo>
                <a:lnTo>
                  <a:pt x="21600" y="10800"/>
                </a:ln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lose/>
              </a:path>
            </a:pathLst>
          </a:custGeom>
          <a:solidFill>
            <a:srgbClr val="C1DB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1893921" y="5758798"/>
            <a:ext cx="5424985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Kết luận và hướng phát triển</a:t>
            </a:r>
          </a:p>
        </p:txBody>
      </p:sp>
      <p:sp>
        <p:nvSpPr>
          <p:cNvPr id="202" name="Google Shape;202;p3"/>
          <p:cNvSpPr/>
          <p:nvPr/>
        </p:nvSpPr>
        <p:spPr>
          <a:xfrm>
            <a:off x="2625911" y="4585224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Thực nghiệm và đánh giá</a:t>
            </a:r>
          </a:p>
        </p:txBody>
      </p:sp>
      <p:grpSp>
        <p:nvGrpSpPr>
          <p:cNvPr id="203" name="Google Shape;203;p3"/>
          <p:cNvGrpSpPr/>
          <p:nvPr/>
        </p:nvGrpSpPr>
        <p:grpSpPr>
          <a:xfrm>
            <a:off x="2308411" y="4674124"/>
            <a:ext cx="381000" cy="381000"/>
            <a:chOff x="2078" y="1680"/>
            <a:chExt cx="1615" cy="1615"/>
          </a:xfrm>
        </p:grpSpPr>
        <p:sp>
          <p:nvSpPr>
            <p:cNvPr id="204" name="Google Shape;20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" name="Google Shape;20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0" name="Google Shape;210;p3"/>
          <p:cNvGrpSpPr/>
          <p:nvPr/>
        </p:nvGrpSpPr>
        <p:grpSpPr>
          <a:xfrm>
            <a:off x="1589122" y="5865161"/>
            <a:ext cx="381000" cy="381000"/>
            <a:chOff x="2078" y="1680"/>
            <a:chExt cx="1615" cy="1615"/>
          </a:xfrm>
        </p:grpSpPr>
        <p:sp>
          <p:nvSpPr>
            <p:cNvPr id="211" name="Google Shape;211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48BE67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48BE67"/>
                </a:gs>
                <a:gs pos="100000">
                  <a:srgbClr val="33884A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"/>
          <p:cNvSpPr txBox="1">
            <a:spLocks noGrp="1"/>
          </p:cNvSpPr>
          <p:nvPr>
            <p:ph type="title"/>
          </p:nvPr>
        </p:nvSpPr>
        <p:spPr>
          <a:xfrm>
            <a:off x="290146" y="0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</a:pPr>
            <a:r>
              <a:rPr lang="vi-VN" dirty="0"/>
              <a:t>Tổng quan bài toán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AEB810-8F43-45F1-8B4F-7D85B54ABB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26522"/>
            <a:ext cx="9144000" cy="548044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"/>
          <p:cNvSpPr txBox="1">
            <a:spLocks noGrp="1"/>
          </p:cNvSpPr>
          <p:nvPr>
            <p:ph type="title"/>
          </p:nvPr>
        </p:nvSpPr>
        <p:spPr>
          <a:xfrm>
            <a:off x="290146" y="0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</a:pPr>
            <a:r>
              <a:rPr lang="en-US" sz="3200"/>
              <a:t>Nội dung</a:t>
            </a:r>
            <a:endParaRPr/>
          </a:p>
        </p:txBody>
      </p:sp>
      <p:sp>
        <p:nvSpPr>
          <p:cNvPr id="159" name="Google Shape;159;p3"/>
          <p:cNvSpPr/>
          <p:nvPr/>
        </p:nvSpPr>
        <p:spPr>
          <a:xfrm>
            <a:off x="2707871" y="1910542"/>
            <a:ext cx="5612567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chemeClr val="dk1"/>
                </a:solidFill>
              </a:rPr>
              <a:t>Cơ chế AI sinh keyword và flow kiểm thử</a:t>
            </a:r>
            <a:endParaRPr lang="vi-VN" sz="1800" dirty="0"/>
          </a:p>
        </p:txBody>
      </p:sp>
      <p:sp>
        <p:nvSpPr>
          <p:cNvPr id="160" name="Google Shape;160;p3"/>
          <p:cNvSpPr/>
          <p:nvPr/>
        </p:nvSpPr>
        <p:spPr>
          <a:xfrm>
            <a:off x="2962656" y="3231999"/>
            <a:ext cx="612648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Kiến trúc framework kiểm thử tự động</a:t>
            </a:r>
          </a:p>
        </p:txBody>
      </p:sp>
      <p:sp>
        <p:nvSpPr>
          <p:cNvPr id="162" name="Google Shape;162;p3"/>
          <p:cNvSpPr/>
          <p:nvPr/>
        </p:nvSpPr>
        <p:spPr>
          <a:xfrm>
            <a:off x="1472079" y="866179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rgbClr val="D0CECE"/>
                </a:solidFill>
              </a:rPr>
              <a:t>Tổng quan bài toán</a:t>
            </a:r>
            <a:endParaRPr dirty="0">
              <a:solidFill>
                <a:srgbClr val="D0CECE"/>
              </a:solidFill>
            </a:endParaRPr>
          </a:p>
        </p:txBody>
      </p:sp>
      <p:grpSp>
        <p:nvGrpSpPr>
          <p:cNvPr id="163" name="Google Shape;163;p3"/>
          <p:cNvGrpSpPr/>
          <p:nvPr/>
        </p:nvGrpSpPr>
        <p:grpSpPr>
          <a:xfrm>
            <a:off x="1154579" y="955079"/>
            <a:ext cx="381000" cy="381000"/>
            <a:chOff x="2078" y="1680"/>
            <a:chExt cx="1615" cy="1615"/>
          </a:xfrm>
        </p:grpSpPr>
        <p:sp>
          <p:nvSpPr>
            <p:cNvPr id="164" name="Google Shape;16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" name="Google Shape;16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" name="Google Shape;16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" name="Google Shape;16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7" name="Google Shape;177;p3"/>
          <p:cNvGrpSpPr/>
          <p:nvPr/>
        </p:nvGrpSpPr>
        <p:grpSpPr>
          <a:xfrm>
            <a:off x="2187883" y="1973396"/>
            <a:ext cx="381000" cy="381000"/>
            <a:chOff x="2078" y="1680"/>
            <a:chExt cx="1615" cy="1615"/>
          </a:xfrm>
        </p:grpSpPr>
        <p:sp>
          <p:nvSpPr>
            <p:cNvPr id="178" name="Google Shape;178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7E9E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" name="Google Shape;183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80A2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3"/>
          <p:cNvGrpSpPr/>
          <p:nvPr/>
        </p:nvGrpSpPr>
        <p:grpSpPr>
          <a:xfrm>
            <a:off x="2568883" y="3311314"/>
            <a:ext cx="355600" cy="381000"/>
            <a:chOff x="2078" y="1680"/>
            <a:chExt cx="1615" cy="1615"/>
          </a:xfrm>
        </p:grpSpPr>
        <p:sp>
          <p:nvSpPr>
            <p:cNvPr id="185" name="Google Shape;185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E35E23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E35E23"/>
                </a:gs>
                <a:gs pos="100000">
                  <a:srgbClr val="A34319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9" name="Google Shape;199;p3"/>
          <p:cNvSpPr/>
          <p:nvPr/>
        </p:nvSpPr>
        <p:spPr>
          <a:xfrm rot="5400000">
            <a:off x="-2403921" y="1239529"/>
            <a:ext cx="4824413" cy="4770438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323" y="10641"/>
                </a:moveTo>
                <a:cubicBezTo>
                  <a:pt x="410" y="4916"/>
                  <a:pt x="5075" y="321"/>
                  <a:pt x="10800" y="322"/>
                </a:cubicBezTo>
                <a:cubicBezTo>
                  <a:pt x="16524" y="322"/>
                  <a:pt x="21189" y="4916"/>
                  <a:pt x="21276" y="10641"/>
                </a:cubicBezTo>
                <a:lnTo>
                  <a:pt x="21598" y="10636"/>
                </a:lnTo>
                <a:cubicBezTo>
                  <a:pt x="21509" y="4736"/>
                  <a:pt x="16700" y="-1"/>
                  <a:pt x="10799" y="0"/>
                </a:cubicBezTo>
                <a:cubicBezTo>
                  <a:pt x="4899" y="0"/>
                  <a:pt x="90" y="4736"/>
                  <a:pt x="1" y="10636"/>
                </a:cubicBezTo>
                <a:close/>
              </a:path>
            </a:pathLst>
          </a:custGeom>
          <a:gradFill>
            <a:gsLst>
              <a:gs pos="0">
                <a:srgbClr val="F4F4F4"/>
              </a:gs>
              <a:gs pos="50000">
                <a:schemeClr val="lt2"/>
              </a:gs>
              <a:gs pos="100000">
                <a:srgbClr val="F4F4F4"/>
              </a:gs>
            </a:gsLst>
            <a:lin ang="0" scaled="0"/>
          </a:gradFill>
          <a:ln w="9525" cap="flat" cmpd="sng">
            <a:solidFill>
              <a:srgbClr val="B3AB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"/>
          <p:cNvSpPr/>
          <p:nvPr/>
        </p:nvSpPr>
        <p:spPr>
          <a:xfrm rot="5400000" flipH="1">
            <a:off x="-1998313" y="1675297"/>
            <a:ext cx="4032250" cy="392906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44" y="10800"/>
                </a:moveTo>
                <a:cubicBezTo>
                  <a:pt x="10744" y="10769"/>
                  <a:pt x="10769" y="10744"/>
                  <a:pt x="10800" y="10744"/>
                </a:cubicBezTo>
                <a:cubicBezTo>
                  <a:pt x="10830" y="10743"/>
                  <a:pt x="10855" y="10769"/>
                  <a:pt x="10856" y="10799"/>
                </a:cubicBezTo>
                <a:lnTo>
                  <a:pt x="21600" y="10800"/>
                </a:ln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lose/>
              </a:path>
            </a:pathLst>
          </a:custGeom>
          <a:solidFill>
            <a:srgbClr val="C1DB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1893921" y="5758798"/>
            <a:ext cx="5424985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Kết luận và hướng phát triển</a:t>
            </a:r>
          </a:p>
        </p:txBody>
      </p:sp>
      <p:sp>
        <p:nvSpPr>
          <p:cNvPr id="202" name="Google Shape;202;p3"/>
          <p:cNvSpPr/>
          <p:nvPr/>
        </p:nvSpPr>
        <p:spPr>
          <a:xfrm>
            <a:off x="2625911" y="4585224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Thực nghiệm và đánh giá</a:t>
            </a:r>
          </a:p>
        </p:txBody>
      </p:sp>
      <p:grpSp>
        <p:nvGrpSpPr>
          <p:cNvPr id="203" name="Google Shape;203;p3"/>
          <p:cNvGrpSpPr/>
          <p:nvPr/>
        </p:nvGrpSpPr>
        <p:grpSpPr>
          <a:xfrm>
            <a:off x="2308411" y="4674124"/>
            <a:ext cx="381000" cy="381000"/>
            <a:chOff x="2078" y="1680"/>
            <a:chExt cx="1615" cy="1615"/>
          </a:xfrm>
        </p:grpSpPr>
        <p:sp>
          <p:nvSpPr>
            <p:cNvPr id="204" name="Google Shape;20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" name="Google Shape;20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0" name="Google Shape;210;p3"/>
          <p:cNvGrpSpPr/>
          <p:nvPr/>
        </p:nvGrpSpPr>
        <p:grpSpPr>
          <a:xfrm>
            <a:off x="1589122" y="5865161"/>
            <a:ext cx="381000" cy="381000"/>
            <a:chOff x="2078" y="1680"/>
            <a:chExt cx="1615" cy="1615"/>
          </a:xfrm>
        </p:grpSpPr>
        <p:sp>
          <p:nvSpPr>
            <p:cNvPr id="211" name="Google Shape;211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48BE67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48BE67"/>
                </a:gs>
                <a:gs pos="100000">
                  <a:srgbClr val="33884A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6490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"/>
          <p:cNvSpPr txBox="1">
            <a:spLocks noGrp="1"/>
          </p:cNvSpPr>
          <p:nvPr>
            <p:ph type="title"/>
          </p:nvPr>
        </p:nvSpPr>
        <p:spPr>
          <a:xfrm>
            <a:off x="0" y="387838"/>
            <a:ext cx="8572500" cy="296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vi-VN" sz="3200" dirty="0">
                <a:solidFill>
                  <a:schemeClr val="bg1"/>
                </a:solidFill>
              </a:rPr>
              <a:t> Cơ chế AI sinh keyword và flow kiểm thử</a:t>
            </a:r>
            <a:br>
              <a:rPr lang="vi-VN" sz="3200" dirty="0">
                <a:solidFill>
                  <a:schemeClr val="bg1"/>
                </a:solidFill>
              </a:rPr>
            </a:br>
            <a:endParaRPr sz="32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0F8DBA-213C-4BA9-83E1-720FE53A979A}"/>
              </a:ext>
            </a:extLst>
          </p:cNvPr>
          <p:cNvSpPr txBox="1"/>
          <p:nvPr/>
        </p:nvSpPr>
        <p:spPr>
          <a:xfrm>
            <a:off x="5111496" y="1014984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941349E-EEC7-4753-94E6-E3A02AAB19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41211"/>
            <a:ext cx="9144000" cy="5647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312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"/>
          <p:cNvSpPr txBox="1">
            <a:spLocks noGrp="1"/>
          </p:cNvSpPr>
          <p:nvPr>
            <p:ph type="title"/>
          </p:nvPr>
        </p:nvSpPr>
        <p:spPr>
          <a:xfrm>
            <a:off x="290146" y="0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</a:pPr>
            <a:r>
              <a:rPr lang="en-US" sz="3200"/>
              <a:t>Nội dung</a:t>
            </a:r>
            <a:endParaRPr/>
          </a:p>
        </p:txBody>
      </p:sp>
      <p:sp>
        <p:nvSpPr>
          <p:cNvPr id="159" name="Google Shape;159;p3"/>
          <p:cNvSpPr/>
          <p:nvPr/>
        </p:nvSpPr>
        <p:spPr>
          <a:xfrm>
            <a:off x="2707871" y="1910542"/>
            <a:ext cx="5612567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Cơ chế AI sinh keyword và flow kiểm thử</a:t>
            </a:r>
          </a:p>
        </p:txBody>
      </p:sp>
      <p:sp>
        <p:nvSpPr>
          <p:cNvPr id="160" name="Google Shape;160;p3"/>
          <p:cNvSpPr/>
          <p:nvPr/>
        </p:nvSpPr>
        <p:spPr>
          <a:xfrm>
            <a:off x="2962656" y="3231999"/>
            <a:ext cx="612648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chemeClr val="tx1"/>
                </a:solidFill>
              </a:rPr>
              <a:t>Kiến trúc framework kiểm thử tự động</a:t>
            </a:r>
          </a:p>
        </p:txBody>
      </p:sp>
      <p:sp>
        <p:nvSpPr>
          <p:cNvPr id="162" name="Google Shape;162;p3"/>
          <p:cNvSpPr/>
          <p:nvPr/>
        </p:nvSpPr>
        <p:spPr>
          <a:xfrm>
            <a:off x="1472079" y="866179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rgbClr val="D0CECE"/>
                </a:solidFill>
              </a:rPr>
              <a:t>Tổng quan bài toán</a:t>
            </a:r>
            <a:endParaRPr dirty="0">
              <a:solidFill>
                <a:srgbClr val="D0CECE"/>
              </a:solidFill>
            </a:endParaRPr>
          </a:p>
        </p:txBody>
      </p:sp>
      <p:grpSp>
        <p:nvGrpSpPr>
          <p:cNvPr id="163" name="Google Shape;163;p3"/>
          <p:cNvGrpSpPr/>
          <p:nvPr/>
        </p:nvGrpSpPr>
        <p:grpSpPr>
          <a:xfrm>
            <a:off x="1154579" y="955079"/>
            <a:ext cx="381000" cy="381000"/>
            <a:chOff x="2078" y="1680"/>
            <a:chExt cx="1615" cy="1615"/>
          </a:xfrm>
        </p:grpSpPr>
        <p:sp>
          <p:nvSpPr>
            <p:cNvPr id="164" name="Google Shape;16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" name="Google Shape;16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" name="Google Shape;16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" name="Google Shape;16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7" name="Google Shape;177;p3"/>
          <p:cNvGrpSpPr/>
          <p:nvPr/>
        </p:nvGrpSpPr>
        <p:grpSpPr>
          <a:xfrm>
            <a:off x="2187883" y="1973396"/>
            <a:ext cx="381000" cy="381000"/>
            <a:chOff x="2078" y="1680"/>
            <a:chExt cx="1615" cy="1615"/>
          </a:xfrm>
        </p:grpSpPr>
        <p:sp>
          <p:nvSpPr>
            <p:cNvPr id="178" name="Google Shape;178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7E9E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" name="Google Shape;183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80A2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3"/>
          <p:cNvGrpSpPr/>
          <p:nvPr/>
        </p:nvGrpSpPr>
        <p:grpSpPr>
          <a:xfrm>
            <a:off x="2568883" y="3311314"/>
            <a:ext cx="355600" cy="381000"/>
            <a:chOff x="2078" y="1680"/>
            <a:chExt cx="1615" cy="1615"/>
          </a:xfrm>
        </p:grpSpPr>
        <p:sp>
          <p:nvSpPr>
            <p:cNvPr id="185" name="Google Shape;185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E35E23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E35E23"/>
                </a:gs>
                <a:gs pos="100000">
                  <a:srgbClr val="A34319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9" name="Google Shape;199;p3"/>
          <p:cNvSpPr/>
          <p:nvPr/>
        </p:nvSpPr>
        <p:spPr>
          <a:xfrm rot="5400000">
            <a:off x="-2403921" y="1239529"/>
            <a:ext cx="4824413" cy="4770438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323" y="10641"/>
                </a:moveTo>
                <a:cubicBezTo>
                  <a:pt x="410" y="4916"/>
                  <a:pt x="5075" y="321"/>
                  <a:pt x="10800" y="322"/>
                </a:cubicBezTo>
                <a:cubicBezTo>
                  <a:pt x="16524" y="322"/>
                  <a:pt x="21189" y="4916"/>
                  <a:pt x="21276" y="10641"/>
                </a:cubicBezTo>
                <a:lnTo>
                  <a:pt x="21598" y="10636"/>
                </a:lnTo>
                <a:cubicBezTo>
                  <a:pt x="21509" y="4736"/>
                  <a:pt x="16700" y="-1"/>
                  <a:pt x="10799" y="0"/>
                </a:cubicBezTo>
                <a:cubicBezTo>
                  <a:pt x="4899" y="0"/>
                  <a:pt x="90" y="4736"/>
                  <a:pt x="1" y="10636"/>
                </a:cubicBezTo>
                <a:close/>
              </a:path>
            </a:pathLst>
          </a:custGeom>
          <a:gradFill>
            <a:gsLst>
              <a:gs pos="0">
                <a:srgbClr val="F4F4F4"/>
              </a:gs>
              <a:gs pos="50000">
                <a:schemeClr val="lt2"/>
              </a:gs>
              <a:gs pos="100000">
                <a:srgbClr val="F4F4F4"/>
              </a:gs>
            </a:gsLst>
            <a:lin ang="0" scaled="0"/>
          </a:gradFill>
          <a:ln w="9525" cap="flat" cmpd="sng">
            <a:solidFill>
              <a:srgbClr val="B3AB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"/>
          <p:cNvSpPr/>
          <p:nvPr/>
        </p:nvSpPr>
        <p:spPr>
          <a:xfrm rot="5400000" flipH="1">
            <a:off x="-1998313" y="1675297"/>
            <a:ext cx="4032250" cy="392906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44" y="10800"/>
                </a:moveTo>
                <a:cubicBezTo>
                  <a:pt x="10744" y="10769"/>
                  <a:pt x="10769" y="10744"/>
                  <a:pt x="10800" y="10744"/>
                </a:cubicBezTo>
                <a:cubicBezTo>
                  <a:pt x="10830" y="10743"/>
                  <a:pt x="10855" y="10769"/>
                  <a:pt x="10856" y="10799"/>
                </a:cubicBezTo>
                <a:lnTo>
                  <a:pt x="21600" y="10800"/>
                </a:ln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lose/>
              </a:path>
            </a:pathLst>
          </a:custGeom>
          <a:solidFill>
            <a:srgbClr val="C1DB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1893921" y="5758798"/>
            <a:ext cx="5424985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Kết luận và hướng phát triển</a:t>
            </a:r>
          </a:p>
        </p:txBody>
      </p:sp>
      <p:sp>
        <p:nvSpPr>
          <p:cNvPr id="202" name="Google Shape;202;p3"/>
          <p:cNvSpPr/>
          <p:nvPr/>
        </p:nvSpPr>
        <p:spPr>
          <a:xfrm>
            <a:off x="2625911" y="4585224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Thực nghiệm và đánh giá</a:t>
            </a:r>
          </a:p>
        </p:txBody>
      </p:sp>
      <p:grpSp>
        <p:nvGrpSpPr>
          <p:cNvPr id="203" name="Google Shape;203;p3"/>
          <p:cNvGrpSpPr/>
          <p:nvPr/>
        </p:nvGrpSpPr>
        <p:grpSpPr>
          <a:xfrm>
            <a:off x="2308411" y="4674124"/>
            <a:ext cx="381000" cy="381000"/>
            <a:chOff x="2078" y="1680"/>
            <a:chExt cx="1615" cy="1615"/>
          </a:xfrm>
        </p:grpSpPr>
        <p:sp>
          <p:nvSpPr>
            <p:cNvPr id="204" name="Google Shape;20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" name="Google Shape;20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0" name="Google Shape;210;p3"/>
          <p:cNvGrpSpPr/>
          <p:nvPr/>
        </p:nvGrpSpPr>
        <p:grpSpPr>
          <a:xfrm>
            <a:off x="1589122" y="5865161"/>
            <a:ext cx="381000" cy="381000"/>
            <a:chOff x="2078" y="1680"/>
            <a:chExt cx="1615" cy="1615"/>
          </a:xfrm>
        </p:grpSpPr>
        <p:sp>
          <p:nvSpPr>
            <p:cNvPr id="211" name="Google Shape;211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48BE67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48BE67"/>
                </a:gs>
                <a:gs pos="100000">
                  <a:srgbClr val="33884A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018534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"/>
          <p:cNvSpPr txBox="1">
            <a:spLocks noGrp="1"/>
          </p:cNvSpPr>
          <p:nvPr>
            <p:ph type="title"/>
          </p:nvPr>
        </p:nvSpPr>
        <p:spPr>
          <a:xfrm>
            <a:off x="0" y="387838"/>
            <a:ext cx="8572500" cy="296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vi-VN" sz="3200" dirty="0">
                <a:solidFill>
                  <a:schemeClr val="bg1"/>
                </a:solidFill>
              </a:rPr>
              <a:t> Cấu trúc thư mục framework</a:t>
            </a:r>
            <a:br>
              <a:rPr lang="vi-VN" sz="3200" dirty="0">
                <a:solidFill>
                  <a:schemeClr val="bg1"/>
                </a:solidFill>
              </a:rPr>
            </a:br>
            <a:endParaRPr sz="3200" dirty="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79659A-0932-4B5B-B7C5-960AE730F82C}"/>
              </a:ext>
            </a:extLst>
          </p:cNvPr>
          <p:cNvSpPr/>
          <p:nvPr/>
        </p:nvSpPr>
        <p:spPr>
          <a:xfrm>
            <a:off x="683514" y="577935"/>
            <a:ext cx="7463790" cy="63248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500" b="1" dirty="0">
                <a:latin typeface="Times  New Roman"/>
              </a:rPr>
              <a:t>DOANTOTNGHIEP</a:t>
            </a:r>
            <a:r>
              <a:rPr lang="en-US" sz="1500" dirty="0">
                <a:latin typeface="Times  New Roman"/>
              </a:rPr>
              <a:t>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├── </a:t>
            </a:r>
            <a:r>
              <a:rPr lang="en-US" sz="1500" b="1" dirty="0" err="1">
                <a:latin typeface="Times  New Roman"/>
              </a:rPr>
              <a:t>generate_keywords_use_AI</a:t>
            </a:r>
            <a:r>
              <a:rPr lang="en-US" sz="1500" b="1" dirty="0">
                <a:latin typeface="Times  New Roman"/>
              </a:rPr>
              <a:t>/</a:t>
            </a:r>
            <a:r>
              <a:rPr lang="vi-VN" sz="1500" b="1" dirty="0">
                <a:latin typeface="Times  New Roman"/>
              </a:rPr>
              <a:t>       </a:t>
            </a:r>
            <a:r>
              <a:rPr lang="vi-VN" sz="1500" dirty="0">
                <a:latin typeface="Times  New Roman"/>
                <a:sym typeface="Wingdings" panose="05000000000000000000" pitchFamily="2" charset="2"/>
              </a:rPr>
              <a:t> X</a:t>
            </a:r>
            <a:r>
              <a:rPr lang="vi-VN" sz="1500" dirty="0">
                <a:latin typeface="Times  New Roman"/>
              </a:rPr>
              <a:t>ử lý AI sinh keyword, flow, E2E</a:t>
            </a:r>
          </a:p>
          <a:p>
            <a:r>
              <a:rPr lang="en-US" sz="1500" dirty="0">
                <a:latin typeface="Times  New Roman"/>
              </a:rPr>
              <a:t>│ ├── input/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output/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prompt/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generate_keyword.py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└── generate_e2e.py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├── </a:t>
            </a:r>
            <a:r>
              <a:rPr lang="en-US" sz="1500" b="1" dirty="0">
                <a:latin typeface="Times  New Roman"/>
              </a:rPr>
              <a:t>keywords/</a:t>
            </a:r>
            <a:r>
              <a:rPr lang="vi-VN" sz="1500" b="1" dirty="0">
                <a:latin typeface="Times  New Roman"/>
              </a:rPr>
              <a:t>		</a:t>
            </a:r>
            <a:r>
              <a:rPr lang="vi-VN" sz="1500" dirty="0">
                <a:latin typeface="Times  New Roman"/>
                <a:sym typeface="Wingdings" panose="05000000000000000000" pitchFamily="2" charset="2"/>
              </a:rPr>
              <a:t> Q</a:t>
            </a:r>
            <a:r>
              <a:rPr lang="vi-VN" sz="1500" dirty="0">
                <a:latin typeface="Times  New Roman"/>
              </a:rPr>
              <a:t>uản lý keyword theo tầng Business / UI / Verify</a:t>
            </a:r>
          </a:p>
          <a:p>
            <a:r>
              <a:rPr lang="en-US" sz="1500" dirty="0">
                <a:latin typeface="Times  New Roman"/>
              </a:rPr>
              <a:t>│ ├── business/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</a:t>
            </a:r>
            <a:r>
              <a:rPr lang="en-US" sz="1500" dirty="0" err="1">
                <a:latin typeface="Times  New Roman"/>
              </a:rPr>
              <a:t>ui</a:t>
            </a:r>
            <a:r>
              <a:rPr lang="en-US" sz="1500" dirty="0">
                <a:latin typeface="Times  New Roman"/>
              </a:rPr>
              <a:t>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verify/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└── </a:t>
            </a:r>
            <a:r>
              <a:rPr lang="en-US" sz="1500" dirty="0" err="1">
                <a:latin typeface="Times  New Roman"/>
              </a:rPr>
              <a:t>base_test.robot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├── </a:t>
            </a:r>
            <a:r>
              <a:rPr lang="en-US" sz="1500" b="1" dirty="0">
                <a:latin typeface="Times  New Roman"/>
              </a:rPr>
              <a:t>pages/</a:t>
            </a:r>
            <a:r>
              <a:rPr lang="vi-VN" sz="1500" b="1" dirty="0">
                <a:latin typeface="Times  New Roman"/>
              </a:rPr>
              <a:t>		</a:t>
            </a:r>
            <a:r>
              <a:rPr lang="vi-VN" sz="1500" dirty="0">
                <a:latin typeface="Times  New Roman"/>
                <a:sym typeface="Wingdings" panose="05000000000000000000" pitchFamily="2" charset="2"/>
              </a:rPr>
              <a:t></a:t>
            </a:r>
            <a:r>
              <a:rPr lang="vi-VN" sz="1500" dirty="0">
                <a:latin typeface="Times  New Roman"/>
              </a:rPr>
              <a:t> Quản lý locator theo Page Object Model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login_page.py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</a:t>
            </a:r>
            <a:r>
              <a:rPr lang="vi-VN" sz="1500" dirty="0">
                <a:latin typeface="Times  New Roman"/>
              </a:rPr>
              <a:t>....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├── </a:t>
            </a:r>
            <a:r>
              <a:rPr lang="en-US" sz="1500" b="1" dirty="0">
                <a:latin typeface="Times  New Roman"/>
              </a:rPr>
              <a:t>tests/</a:t>
            </a:r>
            <a:r>
              <a:rPr lang="vi-VN" sz="1500" b="1" dirty="0">
                <a:latin typeface="Times  New Roman"/>
              </a:rPr>
              <a:t>		</a:t>
            </a:r>
            <a:r>
              <a:rPr lang="vi-VN" sz="1500" dirty="0">
                <a:latin typeface="Times  New Roman"/>
                <a:sym typeface="Wingdings" panose="05000000000000000000" pitchFamily="2" charset="2"/>
              </a:rPr>
              <a:t> 	</a:t>
            </a:r>
            <a:r>
              <a:rPr lang="vi-VN" sz="1500" b="1" dirty="0">
                <a:latin typeface="Times  New Roman"/>
                <a:sym typeface="Wingdings" panose="05000000000000000000" pitchFamily="2" charset="2"/>
              </a:rPr>
              <a:t> </a:t>
            </a:r>
            <a:r>
              <a:rPr lang="vi-VN" sz="1500" dirty="0">
                <a:latin typeface="Times  New Roman"/>
                <a:sym typeface="Wingdings" panose="05000000000000000000" pitchFamily="2" charset="2"/>
              </a:rPr>
              <a:t>C</a:t>
            </a:r>
            <a:r>
              <a:rPr lang="vi-VN" sz="1500" dirty="0">
                <a:latin typeface="Times  New Roman"/>
              </a:rPr>
              <a:t>hứa test script Robot Framework</a:t>
            </a:r>
          </a:p>
          <a:p>
            <a:r>
              <a:rPr lang="en-US" sz="1500" dirty="0">
                <a:latin typeface="Times  New Roman"/>
              </a:rPr>
              <a:t>│ ├── </a:t>
            </a:r>
            <a:r>
              <a:rPr lang="en-US" sz="1500" dirty="0" err="1">
                <a:latin typeface="Times  New Roman"/>
              </a:rPr>
              <a:t>login_auto.robot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</a:t>
            </a:r>
            <a:r>
              <a:rPr lang="vi-VN" sz="1500" dirty="0">
                <a:latin typeface="Times  New Roman"/>
              </a:rPr>
              <a:t>....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└── e2e/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├── </a:t>
            </a:r>
            <a:r>
              <a:rPr lang="en-US" sz="1500" b="1" dirty="0" err="1">
                <a:latin typeface="Times  New Roman"/>
              </a:rPr>
              <a:t>utils</a:t>
            </a:r>
            <a:r>
              <a:rPr lang="en-US" sz="1500" b="1" dirty="0">
                <a:latin typeface="Times  New Roman"/>
              </a:rPr>
              <a:t>/</a:t>
            </a:r>
            <a:r>
              <a:rPr lang="vi-VN" sz="1500" b="1" dirty="0">
                <a:latin typeface="Times  New Roman"/>
              </a:rPr>
              <a:t>			</a:t>
            </a:r>
            <a:r>
              <a:rPr lang="vi-VN" sz="1500" dirty="0">
                <a:latin typeface="Times  New Roman"/>
                <a:sym typeface="Wingdings" panose="05000000000000000000" pitchFamily="2" charset="2"/>
              </a:rPr>
              <a:t> H</a:t>
            </a:r>
            <a:r>
              <a:rPr lang="vi-VN" sz="1500" dirty="0">
                <a:latin typeface="Times  New Roman"/>
              </a:rPr>
              <a:t>ỗ trợ log, screenshot, report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logger.py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screenshot.py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allure_helper.py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└── </a:t>
            </a:r>
            <a:r>
              <a:rPr lang="en-US" sz="1500" b="1" dirty="0">
                <a:latin typeface="Times  New Roman"/>
              </a:rPr>
              <a:t>reports/</a:t>
            </a:r>
            <a:r>
              <a:rPr lang="vi-VN" sz="1500" b="1" dirty="0">
                <a:latin typeface="Times  New Roman"/>
              </a:rPr>
              <a:t>		</a:t>
            </a:r>
            <a:r>
              <a:rPr lang="vi-VN" sz="1500" dirty="0">
                <a:latin typeface="Times  New Roman"/>
                <a:sym typeface="Wingdings" panose="05000000000000000000" pitchFamily="2" charset="2"/>
              </a:rPr>
              <a:t> L</a:t>
            </a:r>
            <a:r>
              <a:rPr lang="vi-VN" sz="1500" dirty="0">
                <a:latin typeface="Times  New Roman"/>
              </a:rPr>
              <a:t>ưu kết quả thực thi kiểm thử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robot/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allure/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└── logs/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83E5D12-1AAC-4FDD-8091-BD06CB7CC4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149" y="615705"/>
            <a:ext cx="7942739" cy="6169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0729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"/>
          <p:cNvSpPr txBox="1">
            <a:spLocks noGrp="1"/>
          </p:cNvSpPr>
          <p:nvPr>
            <p:ph type="title"/>
          </p:nvPr>
        </p:nvSpPr>
        <p:spPr>
          <a:xfrm>
            <a:off x="0" y="387838"/>
            <a:ext cx="8572500" cy="296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vi-VN" sz="3200" dirty="0">
                <a:solidFill>
                  <a:schemeClr val="bg1"/>
                </a:solidFill>
              </a:rPr>
              <a:t> Luồng hoạt động của </a:t>
            </a:r>
            <a:r>
              <a:rPr lang="vi-VN" sz="32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framework</a:t>
            </a:r>
            <a:br>
              <a:rPr lang="vi-VN" sz="3200" dirty="0">
                <a:solidFill>
                  <a:schemeClr val="bg1"/>
                </a:solidFill>
              </a:rPr>
            </a:br>
            <a:endParaRPr sz="3200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D3B0FD-A000-4340-BC50-CA9149A456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11331"/>
            <a:ext cx="9144000" cy="5146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7286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"/>
          <p:cNvSpPr txBox="1">
            <a:spLocks noGrp="1"/>
          </p:cNvSpPr>
          <p:nvPr>
            <p:ph type="title"/>
          </p:nvPr>
        </p:nvSpPr>
        <p:spPr>
          <a:xfrm>
            <a:off x="290146" y="0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</a:pPr>
            <a:r>
              <a:rPr lang="en-US" sz="3200"/>
              <a:t>Nội dung</a:t>
            </a:r>
            <a:endParaRPr/>
          </a:p>
        </p:txBody>
      </p:sp>
      <p:sp>
        <p:nvSpPr>
          <p:cNvPr id="159" name="Google Shape;159;p3"/>
          <p:cNvSpPr/>
          <p:nvPr/>
        </p:nvSpPr>
        <p:spPr>
          <a:xfrm>
            <a:off x="2707871" y="1910542"/>
            <a:ext cx="5612567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Cơ chế AI sinh keyword và flow kiểm thử</a:t>
            </a:r>
          </a:p>
        </p:txBody>
      </p:sp>
      <p:sp>
        <p:nvSpPr>
          <p:cNvPr id="160" name="Google Shape;160;p3"/>
          <p:cNvSpPr/>
          <p:nvPr/>
        </p:nvSpPr>
        <p:spPr>
          <a:xfrm>
            <a:off x="2962656" y="3231999"/>
            <a:ext cx="612648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Kiến trúc framework kiểm thử tự động</a:t>
            </a:r>
          </a:p>
        </p:txBody>
      </p:sp>
      <p:sp>
        <p:nvSpPr>
          <p:cNvPr id="162" name="Google Shape;162;p3"/>
          <p:cNvSpPr/>
          <p:nvPr/>
        </p:nvSpPr>
        <p:spPr>
          <a:xfrm>
            <a:off x="1472079" y="866179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rgbClr val="D0CECE"/>
                </a:solidFill>
              </a:rPr>
              <a:t>Tổng quan bài toán</a:t>
            </a:r>
            <a:endParaRPr dirty="0">
              <a:solidFill>
                <a:srgbClr val="D0CECE"/>
              </a:solidFill>
            </a:endParaRPr>
          </a:p>
        </p:txBody>
      </p:sp>
      <p:grpSp>
        <p:nvGrpSpPr>
          <p:cNvPr id="163" name="Google Shape;163;p3"/>
          <p:cNvGrpSpPr/>
          <p:nvPr/>
        </p:nvGrpSpPr>
        <p:grpSpPr>
          <a:xfrm>
            <a:off x="1154579" y="955079"/>
            <a:ext cx="381000" cy="381000"/>
            <a:chOff x="2078" y="1680"/>
            <a:chExt cx="1615" cy="1615"/>
          </a:xfrm>
        </p:grpSpPr>
        <p:sp>
          <p:nvSpPr>
            <p:cNvPr id="164" name="Google Shape;16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" name="Google Shape;16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" name="Google Shape;16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" name="Google Shape;16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7" name="Google Shape;177;p3"/>
          <p:cNvGrpSpPr/>
          <p:nvPr/>
        </p:nvGrpSpPr>
        <p:grpSpPr>
          <a:xfrm>
            <a:off x="2187883" y="1973396"/>
            <a:ext cx="381000" cy="381000"/>
            <a:chOff x="2078" y="1680"/>
            <a:chExt cx="1615" cy="1615"/>
          </a:xfrm>
        </p:grpSpPr>
        <p:sp>
          <p:nvSpPr>
            <p:cNvPr id="178" name="Google Shape;178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7E9E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" name="Google Shape;183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80A2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3"/>
          <p:cNvGrpSpPr/>
          <p:nvPr/>
        </p:nvGrpSpPr>
        <p:grpSpPr>
          <a:xfrm>
            <a:off x="2568883" y="3311314"/>
            <a:ext cx="355600" cy="381000"/>
            <a:chOff x="2078" y="1680"/>
            <a:chExt cx="1615" cy="1615"/>
          </a:xfrm>
        </p:grpSpPr>
        <p:sp>
          <p:nvSpPr>
            <p:cNvPr id="185" name="Google Shape;185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E35E23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E35E23"/>
                </a:gs>
                <a:gs pos="100000">
                  <a:srgbClr val="A34319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9" name="Google Shape;199;p3"/>
          <p:cNvSpPr/>
          <p:nvPr/>
        </p:nvSpPr>
        <p:spPr>
          <a:xfrm rot="5400000">
            <a:off x="-2403921" y="1239529"/>
            <a:ext cx="4824413" cy="4770438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323" y="10641"/>
                </a:moveTo>
                <a:cubicBezTo>
                  <a:pt x="410" y="4916"/>
                  <a:pt x="5075" y="321"/>
                  <a:pt x="10800" y="322"/>
                </a:cubicBezTo>
                <a:cubicBezTo>
                  <a:pt x="16524" y="322"/>
                  <a:pt x="21189" y="4916"/>
                  <a:pt x="21276" y="10641"/>
                </a:cubicBezTo>
                <a:lnTo>
                  <a:pt x="21598" y="10636"/>
                </a:lnTo>
                <a:cubicBezTo>
                  <a:pt x="21509" y="4736"/>
                  <a:pt x="16700" y="-1"/>
                  <a:pt x="10799" y="0"/>
                </a:cubicBezTo>
                <a:cubicBezTo>
                  <a:pt x="4899" y="0"/>
                  <a:pt x="90" y="4736"/>
                  <a:pt x="1" y="10636"/>
                </a:cubicBezTo>
                <a:close/>
              </a:path>
            </a:pathLst>
          </a:custGeom>
          <a:gradFill>
            <a:gsLst>
              <a:gs pos="0">
                <a:srgbClr val="F4F4F4"/>
              </a:gs>
              <a:gs pos="50000">
                <a:schemeClr val="lt2"/>
              </a:gs>
              <a:gs pos="100000">
                <a:srgbClr val="F4F4F4"/>
              </a:gs>
            </a:gsLst>
            <a:lin ang="0" scaled="0"/>
          </a:gradFill>
          <a:ln w="9525" cap="flat" cmpd="sng">
            <a:solidFill>
              <a:srgbClr val="B3AB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"/>
          <p:cNvSpPr/>
          <p:nvPr/>
        </p:nvSpPr>
        <p:spPr>
          <a:xfrm rot="5400000" flipH="1">
            <a:off x="-1998313" y="1675297"/>
            <a:ext cx="4032250" cy="392906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44" y="10800"/>
                </a:moveTo>
                <a:cubicBezTo>
                  <a:pt x="10744" y="10769"/>
                  <a:pt x="10769" y="10744"/>
                  <a:pt x="10800" y="10744"/>
                </a:cubicBezTo>
                <a:cubicBezTo>
                  <a:pt x="10830" y="10743"/>
                  <a:pt x="10855" y="10769"/>
                  <a:pt x="10856" y="10799"/>
                </a:cubicBezTo>
                <a:lnTo>
                  <a:pt x="21600" y="10800"/>
                </a:ln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lose/>
              </a:path>
            </a:pathLst>
          </a:custGeom>
          <a:solidFill>
            <a:srgbClr val="C1DB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1893921" y="5758798"/>
            <a:ext cx="5424985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Kết luận và hướng phát triển</a:t>
            </a:r>
          </a:p>
        </p:txBody>
      </p:sp>
      <p:sp>
        <p:nvSpPr>
          <p:cNvPr id="202" name="Google Shape;202;p3"/>
          <p:cNvSpPr/>
          <p:nvPr/>
        </p:nvSpPr>
        <p:spPr>
          <a:xfrm>
            <a:off x="2625911" y="4585224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chemeClr val="tx1"/>
                </a:solidFill>
              </a:rPr>
              <a:t>Thực nghiệm và đánh giá</a:t>
            </a:r>
          </a:p>
        </p:txBody>
      </p:sp>
      <p:grpSp>
        <p:nvGrpSpPr>
          <p:cNvPr id="203" name="Google Shape;203;p3"/>
          <p:cNvGrpSpPr/>
          <p:nvPr/>
        </p:nvGrpSpPr>
        <p:grpSpPr>
          <a:xfrm>
            <a:off x="2308411" y="4674124"/>
            <a:ext cx="381000" cy="381000"/>
            <a:chOff x="2078" y="1680"/>
            <a:chExt cx="1615" cy="1615"/>
          </a:xfrm>
        </p:grpSpPr>
        <p:sp>
          <p:nvSpPr>
            <p:cNvPr id="204" name="Google Shape;20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" name="Google Shape;20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0" name="Google Shape;210;p3"/>
          <p:cNvGrpSpPr/>
          <p:nvPr/>
        </p:nvGrpSpPr>
        <p:grpSpPr>
          <a:xfrm>
            <a:off x="1589122" y="5865161"/>
            <a:ext cx="381000" cy="381000"/>
            <a:chOff x="2078" y="1680"/>
            <a:chExt cx="1615" cy="1615"/>
          </a:xfrm>
        </p:grpSpPr>
        <p:sp>
          <p:nvSpPr>
            <p:cNvPr id="211" name="Google Shape;211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48BE67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48BE67"/>
                </a:gs>
                <a:gs pos="100000">
                  <a:srgbClr val="33884A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566943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D0509-8983-4F0F-BAD9-0CE02937F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Ứng dụng kiểm thử website Ella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D09EF9-4910-4739-B28D-56D7AD8C8667}"/>
              </a:ext>
            </a:extLst>
          </p:cNvPr>
          <p:cNvSpPr txBox="1"/>
          <p:nvPr/>
        </p:nvSpPr>
        <p:spPr>
          <a:xfrm>
            <a:off x="0" y="941832"/>
            <a:ext cx="9144000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000" b="1" dirty="0">
                <a:latin typeface="+mj-lt"/>
              </a:rPr>
              <a:t>1.   Thực nghiệm trên các chức năng</a:t>
            </a:r>
          </a:p>
          <a:p>
            <a:pPr marL="1033463" indent="-403225">
              <a:buFont typeface="Arial" panose="020B0604020202020204" pitchFamily="34" charset="0"/>
              <a:buChar char="•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Đăng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nhập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vi-V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033463" indent="-403225">
              <a:buFont typeface="Arial" panose="020B0604020202020204" pitchFamily="34" charset="0"/>
              <a:buChar char="•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Đăng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ký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vi-V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033463" indent="-403225">
              <a:buFont typeface="Arial" panose="020B0604020202020204" pitchFamily="34" charset="0"/>
              <a:buChar char="•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Tìm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kiếm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vi-V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033463" indent="-403225">
              <a:buFont typeface="Arial" panose="020B0604020202020204" pitchFamily="34" charset="0"/>
              <a:buChar char="•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vi-V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033463" indent="-403225">
              <a:buFont typeface="Arial" panose="020B0604020202020204" pitchFamily="34" charset="0"/>
              <a:buChar char="•"/>
            </a:pP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Cập nhật hồ sơ </a:t>
            </a:r>
          </a:p>
          <a:p>
            <a:pPr marL="1033463" indent="-403225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E2E</a:t>
            </a:r>
            <a:endParaRPr lang="vi-V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vi-V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vi-V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  Quy trình thực hiện:</a:t>
            </a:r>
          </a:p>
          <a:p>
            <a:pPr lvl="8"/>
            <a:r>
              <a:rPr lang="vi-VN" sz="2000" dirty="0"/>
              <a:t>	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AI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Keyword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Inject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AI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Flow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Generate file .robot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Tester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hoàn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script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thử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Log / Screenshot / Allure Report</a:t>
            </a:r>
          </a:p>
        </p:txBody>
      </p:sp>
    </p:spTree>
    <p:extLst>
      <p:ext uri="{BB962C8B-B14F-4D97-AF65-F5344CB8AC3E}">
        <p14:creationId xmlns:p14="http://schemas.microsoft.com/office/powerpoint/2010/main" val="23830683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5042D-054C-4663-B461-D4FF96577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A90398-02CC-499A-99F9-B4799C46CC09}"/>
              </a:ext>
            </a:extLst>
          </p:cNvPr>
          <p:cNvSpPr txBox="1"/>
          <p:nvPr/>
        </p:nvSpPr>
        <p:spPr>
          <a:xfrm>
            <a:off x="548640" y="932688"/>
            <a:ext cx="18325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1. Mô tả đầu vào</a:t>
            </a:r>
            <a:endParaRPr lang="en-US" sz="1800" b="1" dirty="0">
              <a:latin typeface="+mj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5E3EB2D-F6C9-4D8C-A288-54227B8235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471168"/>
            <a:ext cx="8119872" cy="4962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8274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34458-12AC-4163-97B6-E956A8294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31735A-88B3-48AA-8744-2CF76B5F4DA9}"/>
              </a:ext>
            </a:extLst>
          </p:cNvPr>
          <p:cNvSpPr txBox="1"/>
          <p:nvPr/>
        </p:nvSpPr>
        <p:spPr>
          <a:xfrm>
            <a:off x="603504" y="1005840"/>
            <a:ext cx="2056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2. AI sinh keyword</a:t>
            </a:r>
            <a:endParaRPr lang="en-US" sz="1800" b="1" dirty="0">
              <a:latin typeface="+mj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8FB29F-058A-4C40-901B-2AE0B9309E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9" y="1642627"/>
            <a:ext cx="8966661" cy="457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1629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0B618-66A1-414C-B757-5906B4FE2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0819C-8CC0-4CA1-B4D9-8F633997A80B}"/>
              </a:ext>
            </a:extLst>
          </p:cNvPr>
          <p:cNvSpPr txBox="1"/>
          <p:nvPr/>
        </p:nvSpPr>
        <p:spPr>
          <a:xfrm>
            <a:off x="960120" y="143560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F20327-B1F9-4873-819F-5ED6AF2D5479}"/>
              </a:ext>
            </a:extLst>
          </p:cNvPr>
          <p:cNvSpPr txBox="1"/>
          <p:nvPr/>
        </p:nvSpPr>
        <p:spPr>
          <a:xfrm>
            <a:off x="749808" y="886968"/>
            <a:ext cx="2557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3. Inject vào framework</a:t>
            </a:r>
            <a:endParaRPr lang="en-US" sz="1800" b="1" dirty="0">
              <a:latin typeface="+mj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12E0DE-BD1D-4F9D-9707-2D193828F4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43385"/>
            <a:ext cx="9129973" cy="4123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4796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0B618-66A1-414C-B757-5906B4FE2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0819C-8CC0-4CA1-B4D9-8F633997A80B}"/>
              </a:ext>
            </a:extLst>
          </p:cNvPr>
          <p:cNvSpPr txBox="1"/>
          <p:nvPr/>
        </p:nvSpPr>
        <p:spPr>
          <a:xfrm>
            <a:off x="960120" y="143560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F20327-B1F9-4873-819F-5ED6AF2D5479}"/>
              </a:ext>
            </a:extLst>
          </p:cNvPr>
          <p:cNvSpPr txBox="1"/>
          <p:nvPr/>
        </p:nvSpPr>
        <p:spPr>
          <a:xfrm>
            <a:off x="749808" y="886968"/>
            <a:ext cx="2630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4. AI sinh Flow kiểm thử</a:t>
            </a:r>
            <a:endParaRPr lang="en-US" sz="1800" b="1" dirty="0">
              <a:latin typeface="+mj-lt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7727C15-FEB7-4102-BA07-602D7E6D54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" y="1435608"/>
            <a:ext cx="8732520" cy="2659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86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0B618-66A1-414C-B757-5906B4FE2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0819C-8CC0-4CA1-B4D9-8F633997A80B}"/>
              </a:ext>
            </a:extLst>
          </p:cNvPr>
          <p:cNvSpPr txBox="1"/>
          <p:nvPr/>
        </p:nvSpPr>
        <p:spPr>
          <a:xfrm>
            <a:off x="960120" y="143560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F20327-B1F9-4873-819F-5ED6AF2D5479}"/>
              </a:ext>
            </a:extLst>
          </p:cNvPr>
          <p:cNvSpPr txBox="1"/>
          <p:nvPr/>
        </p:nvSpPr>
        <p:spPr>
          <a:xfrm>
            <a:off x="749808" y="886968"/>
            <a:ext cx="6952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5. Hệ thống generate file .robot và teser kiểm tra, thêm logic, dữ liệu </a:t>
            </a:r>
            <a:endParaRPr lang="en-US" sz="1800" b="1" dirty="0">
              <a:latin typeface="+mj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B596E7-A9CF-4BDF-81D8-F101381EFE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82" y="1562975"/>
            <a:ext cx="7607691" cy="4565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8676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0B618-66A1-414C-B757-5906B4FE2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0819C-8CC0-4CA1-B4D9-8F633997A80B}"/>
              </a:ext>
            </a:extLst>
          </p:cNvPr>
          <p:cNvSpPr txBox="1"/>
          <p:nvPr/>
        </p:nvSpPr>
        <p:spPr>
          <a:xfrm>
            <a:off x="960120" y="143560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F20327-B1F9-4873-819F-5ED6AF2D5479}"/>
              </a:ext>
            </a:extLst>
          </p:cNvPr>
          <p:cNvSpPr txBox="1"/>
          <p:nvPr/>
        </p:nvSpPr>
        <p:spPr>
          <a:xfrm>
            <a:off x="749808" y="886968"/>
            <a:ext cx="22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6. Thực thi kiểm thử </a:t>
            </a:r>
            <a:endParaRPr lang="en-US" sz="1800" b="1" dirty="0">
              <a:latin typeface="+mj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3F649B-1B9A-4C39-B691-C9BB95807353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825" y="1435608"/>
            <a:ext cx="7294055" cy="503491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052821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0B618-66A1-414C-B757-5906B4FE2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0819C-8CC0-4CA1-B4D9-8F633997A80B}"/>
              </a:ext>
            </a:extLst>
          </p:cNvPr>
          <p:cNvSpPr txBox="1"/>
          <p:nvPr/>
        </p:nvSpPr>
        <p:spPr>
          <a:xfrm>
            <a:off x="960120" y="143560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F20327-B1F9-4873-819F-5ED6AF2D5479}"/>
              </a:ext>
            </a:extLst>
          </p:cNvPr>
          <p:cNvSpPr txBox="1"/>
          <p:nvPr/>
        </p:nvSpPr>
        <p:spPr>
          <a:xfrm>
            <a:off x="749808" y="886968"/>
            <a:ext cx="3890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7. Ghi log, Allure Report/ Screenshot </a:t>
            </a:r>
            <a:endParaRPr lang="en-US" sz="1800" b="1" dirty="0">
              <a:latin typeface="+mj-l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78A0B7-7B77-493E-907E-A78264004F56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24" y="1435608"/>
            <a:ext cx="8302752" cy="47787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864790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0B618-66A1-414C-B757-5906B4FE2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0819C-8CC0-4CA1-B4D9-8F633997A80B}"/>
              </a:ext>
            </a:extLst>
          </p:cNvPr>
          <p:cNvSpPr txBox="1"/>
          <p:nvPr/>
        </p:nvSpPr>
        <p:spPr>
          <a:xfrm>
            <a:off x="960120" y="143560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F20327-B1F9-4873-819F-5ED6AF2D5479}"/>
              </a:ext>
            </a:extLst>
          </p:cNvPr>
          <p:cNvSpPr txBox="1"/>
          <p:nvPr/>
        </p:nvSpPr>
        <p:spPr>
          <a:xfrm>
            <a:off x="283427" y="638618"/>
            <a:ext cx="3890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7. Ghi log, Allure Report/ Screenshot </a:t>
            </a:r>
            <a:endParaRPr lang="en-US" sz="1800" b="1" dirty="0">
              <a:latin typeface="+mj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28A63E-85C4-4452-9538-B6899A649670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8587" y="1082310"/>
            <a:ext cx="6684264" cy="36576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C56D7AE-A620-438D-B05D-F4A2C998F567}"/>
              </a:ext>
            </a:extLst>
          </p:cNvPr>
          <p:cNvSpPr/>
          <p:nvPr/>
        </p:nvSpPr>
        <p:spPr>
          <a:xfrm>
            <a:off x="283427" y="4723084"/>
            <a:ext cx="4572000" cy="2119747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vi-VN" sz="1800" dirty="0">
                <a:latin typeface="+mj-lt"/>
              </a:rPr>
              <a:t>Đánh giá:</a:t>
            </a:r>
            <a:br>
              <a:rPr lang="vi-VN" sz="1800" dirty="0">
                <a:latin typeface="+mj-lt"/>
              </a:rPr>
            </a:br>
            <a:r>
              <a:rPr lang="vi-VN" sz="1800" dirty="0">
                <a:latin typeface="+mj-lt"/>
              </a:rPr>
              <a:t>     </a:t>
            </a:r>
            <a:r>
              <a:rPr lang="vi-VN" sz="1800" dirty="0">
                <a:latin typeface="+mj-lt"/>
                <a:sym typeface="Wingdings" panose="05000000000000000000" pitchFamily="2" charset="2"/>
              </a:rPr>
              <a:t> </a:t>
            </a:r>
            <a:r>
              <a:rPr lang="vi-VN" sz="1800" dirty="0">
                <a:latin typeface="+mj-lt"/>
              </a:rPr>
              <a:t>Sinh được keyword/flow/script</a:t>
            </a:r>
            <a:br>
              <a:rPr lang="vi-VN" sz="1800" dirty="0">
                <a:latin typeface="+mj-lt"/>
              </a:rPr>
            </a:br>
            <a:r>
              <a:rPr lang="vi-VN" sz="1800" dirty="0">
                <a:latin typeface="+mj-lt"/>
              </a:rPr>
              <a:t>     </a:t>
            </a:r>
            <a:r>
              <a:rPr lang="vi-VN" sz="1800" dirty="0">
                <a:latin typeface="+mj-lt"/>
                <a:sym typeface="Wingdings" panose="05000000000000000000" pitchFamily="2" charset="2"/>
              </a:rPr>
              <a:t> </a:t>
            </a:r>
            <a:r>
              <a:rPr lang="vi-VN" sz="1800" dirty="0">
                <a:latin typeface="+mj-lt"/>
              </a:rPr>
              <a:t>Có tái sử dụng keyword</a:t>
            </a:r>
            <a:br>
              <a:rPr lang="vi-VN" sz="1800" dirty="0">
                <a:latin typeface="+mj-lt"/>
              </a:rPr>
            </a:br>
            <a:r>
              <a:rPr lang="vi-VN" sz="1800" dirty="0">
                <a:latin typeface="+mj-lt"/>
              </a:rPr>
              <a:t>     </a:t>
            </a:r>
            <a:r>
              <a:rPr lang="vi-VN" sz="1800" dirty="0">
                <a:latin typeface="+mj-lt"/>
                <a:sym typeface="Wingdings" panose="05000000000000000000" pitchFamily="2" charset="2"/>
              </a:rPr>
              <a:t> </a:t>
            </a:r>
            <a:r>
              <a:rPr lang="vi-VN" sz="1800" dirty="0">
                <a:latin typeface="+mj-lt"/>
              </a:rPr>
              <a:t>Có log, screenshot, report</a:t>
            </a:r>
            <a:br>
              <a:rPr lang="vi-VN" sz="1800" dirty="0">
                <a:latin typeface="+mj-lt"/>
              </a:rPr>
            </a:br>
            <a:r>
              <a:rPr lang="vi-VN" sz="1800" dirty="0">
                <a:latin typeface="+mj-lt"/>
              </a:rPr>
              <a:t>     </a:t>
            </a:r>
            <a:r>
              <a:rPr lang="vi-VN" sz="1800" dirty="0">
                <a:latin typeface="+mj-lt"/>
                <a:sym typeface="Wingdings" panose="05000000000000000000" pitchFamily="2" charset="2"/>
              </a:rPr>
              <a:t> </a:t>
            </a:r>
            <a:r>
              <a:rPr lang="vi-VN" sz="1800" dirty="0">
                <a:latin typeface="+mj-lt"/>
              </a:rPr>
              <a:t>Tester vẫn kiểm soát logic</a:t>
            </a:r>
            <a:endParaRPr lang="en-US" sz="1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962176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"/>
          <p:cNvSpPr txBox="1">
            <a:spLocks noGrp="1"/>
          </p:cNvSpPr>
          <p:nvPr>
            <p:ph type="title"/>
          </p:nvPr>
        </p:nvSpPr>
        <p:spPr>
          <a:xfrm>
            <a:off x="290146" y="0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</a:pPr>
            <a:r>
              <a:rPr lang="en-US" sz="3200"/>
              <a:t>Nội dung</a:t>
            </a:r>
            <a:endParaRPr/>
          </a:p>
        </p:txBody>
      </p:sp>
      <p:sp>
        <p:nvSpPr>
          <p:cNvPr id="159" name="Google Shape;159;p3"/>
          <p:cNvSpPr/>
          <p:nvPr/>
        </p:nvSpPr>
        <p:spPr>
          <a:xfrm>
            <a:off x="2707871" y="1910542"/>
            <a:ext cx="5612567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Cơ chế AI sinh keyword và flow kiểm thử</a:t>
            </a:r>
          </a:p>
        </p:txBody>
      </p:sp>
      <p:sp>
        <p:nvSpPr>
          <p:cNvPr id="160" name="Google Shape;160;p3"/>
          <p:cNvSpPr/>
          <p:nvPr/>
        </p:nvSpPr>
        <p:spPr>
          <a:xfrm>
            <a:off x="2962656" y="3231999"/>
            <a:ext cx="612648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Kiến trúc framework kiểm thử tự động</a:t>
            </a:r>
          </a:p>
        </p:txBody>
      </p:sp>
      <p:sp>
        <p:nvSpPr>
          <p:cNvPr id="162" name="Google Shape;162;p3"/>
          <p:cNvSpPr/>
          <p:nvPr/>
        </p:nvSpPr>
        <p:spPr>
          <a:xfrm>
            <a:off x="1472079" y="866179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rgbClr val="D0CECE"/>
                </a:solidFill>
              </a:rPr>
              <a:t>Tổng quan bài toán</a:t>
            </a:r>
            <a:endParaRPr dirty="0">
              <a:solidFill>
                <a:srgbClr val="D0CECE"/>
              </a:solidFill>
            </a:endParaRPr>
          </a:p>
        </p:txBody>
      </p:sp>
      <p:grpSp>
        <p:nvGrpSpPr>
          <p:cNvPr id="163" name="Google Shape;163;p3"/>
          <p:cNvGrpSpPr/>
          <p:nvPr/>
        </p:nvGrpSpPr>
        <p:grpSpPr>
          <a:xfrm>
            <a:off x="1154579" y="955079"/>
            <a:ext cx="381000" cy="381000"/>
            <a:chOff x="2078" y="1680"/>
            <a:chExt cx="1615" cy="1615"/>
          </a:xfrm>
        </p:grpSpPr>
        <p:sp>
          <p:nvSpPr>
            <p:cNvPr id="164" name="Google Shape;16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" name="Google Shape;16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" name="Google Shape;16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" name="Google Shape;16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7" name="Google Shape;177;p3"/>
          <p:cNvGrpSpPr/>
          <p:nvPr/>
        </p:nvGrpSpPr>
        <p:grpSpPr>
          <a:xfrm>
            <a:off x="2187883" y="1973396"/>
            <a:ext cx="381000" cy="381000"/>
            <a:chOff x="2078" y="1680"/>
            <a:chExt cx="1615" cy="1615"/>
          </a:xfrm>
        </p:grpSpPr>
        <p:sp>
          <p:nvSpPr>
            <p:cNvPr id="178" name="Google Shape;178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7E9E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" name="Google Shape;183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80A2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3"/>
          <p:cNvGrpSpPr/>
          <p:nvPr/>
        </p:nvGrpSpPr>
        <p:grpSpPr>
          <a:xfrm>
            <a:off x="2568883" y="3311314"/>
            <a:ext cx="355600" cy="381000"/>
            <a:chOff x="2078" y="1680"/>
            <a:chExt cx="1615" cy="1615"/>
          </a:xfrm>
        </p:grpSpPr>
        <p:sp>
          <p:nvSpPr>
            <p:cNvPr id="185" name="Google Shape;185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E35E23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E35E23"/>
                </a:gs>
                <a:gs pos="100000">
                  <a:srgbClr val="A34319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9" name="Google Shape;199;p3"/>
          <p:cNvSpPr/>
          <p:nvPr/>
        </p:nvSpPr>
        <p:spPr>
          <a:xfrm rot="5400000">
            <a:off x="-2403921" y="1239529"/>
            <a:ext cx="4824413" cy="4770438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323" y="10641"/>
                </a:moveTo>
                <a:cubicBezTo>
                  <a:pt x="410" y="4916"/>
                  <a:pt x="5075" y="321"/>
                  <a:pt x="10800" y="322"/>
                </a:cubicBezTo>
                <a:cubicBezTo>
                  <a:pt x="16524" y="322"/>
                  <a:pt x="21189" y="4916"/>
                  <a:pt x="21276" y="10641"/>
                </a:cubicBezTo>
                <a:lnTo>
                  <a:pt x="21598" y="10636"/>
                </a:lnTo>
                <a:cubicBezTo>
                  <a:pt x="21509" y="4736"/>
                  <a:pt x="16700" y="-1"/>
                  <a:pt x="10799" y="0"/>
                </a:cubicBezTo>
                <a:cubicBezTo>
                  <a:pt x="4899" y="0"/>
                  <a:pt x="90" y="4736"/>
                  <a:pt x="1" y="10636"/>
                </a:cubicBezTo>
                <a:close/>
              </a:path>
            </a:pathLst>
          </a:custGeom>
          <a:gradFill>
            <a:gsLst>
              <a:gs pos="0">
                <a:srgbClr val="F4F4F4"/>
              </a:gs>
              <a:gs pos="50000">
                <a:schemeClr val="lt2"/>
              </a:gs>
              <a:gs pos="100000">
                <a:srgbClr val="F4F4F4"/>
              </a:gs>
            </a:gsLst>
            <a:lin ang="0" scaled="0"/>
          </a:gradFill>
          <a:ln w="9525" cap="flat" cmpd="sng">
            <a:solidFill>
              <a:srgbClr val="B3AB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"/>
          <p:cNvSpPr/>
          <p:nvPr/>
        </p:nvSpPr>
        <p:spPr>
          <a:xfrm rot="5400000" flipH="1">
            <a:off x="-1998313" y="1675297"/>
            <a:ext cx="4032250" cy="392906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44" y="10800"/>
                </a:moveTo>
                <a:cubicBezTo>
                  <a:pt x="10744" y="10769"/>
                  <a:pt x="10769" y="10744"/>
                  <a:pt x="10800" y="10744"/>
                </a:cubicBezTo>
                <a:cubicBezTo>
                  <a:pt x="10830" y="10743"/>
                  <a:pt x="10855" y="10769"/>
                  <a:pt x="10856" y="10799"/>
                </a:cubicBezTo>
                <a:lnTo>
                  <a:pt x="21600" y="10800"/>
                </a:ln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lose/>
              </a:path>
            </a:pathLst>
          </a:custGeom>
          <a:solidFill>
            <a:srgbClr val="C1DB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1893921" y="5758798"/>
            <a:ext cx="5424985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chemeClr val="tx1"/>
                </a:solidFill>
              </a:rPr>
              <a:t>Kết luận và hướng phát triển</a:t>
            </a:r>
          </a:p>
        </p:txBody>
      </p:sp>
      <p:sp>
        <p:nvSpPr>
          <p:cNvPr id="202" name="Google Shape;202;p3"/>
          <p:cNvSpPr/>
          <p:nvPr/>
        </p:nvSpPr>
        <p:spPr>
          <a:xfrm>
            <a:off x="2625911" y="4585224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Thực nghiệm và đánh giá</a:t>
            </a:r>
          </a:p>
        </p:txBody>
      </p:sp>
      <p:grpSp>
        <p:nvGrpSpPr>
          <p:cNvPr id="203" name="Google Shape;203;p3"/>
          <p:cNvGrpSpPr/>
          <p:nvPr/>
        </p:nvGrpSpPr>
        <p:grpSpPr>
          <a:xfrm>
            <a:off x="2308411" y="4674124"/>
            <a:ext cx="381000" cy="381000"/>
            <a:chOff x="2078" y="1680"/>
            <a:chExt cx="1615" cy="1615"/>
          </a:xfrm>
        </p:grpSpPr>
        <p:sp>
          <p:nvSpPr>
            <p:cNvPr id="204" name="Google Shape;20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" name="Google Shape;20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0" name="Google Shape;210;p3"/>
          <p:cNvGrpSpPr/>
          <p:nvPr/>
        </p:nvGrpSpPr>
        <p:grpSpPr>
          <a:xfrm>
            <a:off x="1589122" y="5865161"/>
            <a:ext cx="381000" cy="381000"/>
            <a:chOff x="2078" y="1680"/>
            <a:chExt cx="1615" cy="1615"/>
          </a:xfrm>
        </p:grpSpPr>
        <p:sp>
          <p:nvSpPr>
            <p:cNvPr id="211" name="Google Shape;211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48BE67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48BE67"/>
                </a:gs>
                <a:gs pos="100000">
                  <a:srgbClr val="33884A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726218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0DDF4-60FF-4E0D-82DB-C606FF337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Kết luận &amp; Hướng phát triển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1908F3-7D69-4887-9BC1-7F70C3CA86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vi-VN" sz="1800" b="1" dirty="0">
                <a:latin typeface="+mj-lt"/>
              </a:rPr>
              <a:t>Kết quả đạt được</a:t>
            </a:r>
          </a:p>
          <a:p>
            <a:pPr>
              <a:lnSpc>
                <a:spcPct val="150000"/>
              </a:lnSpc>
            </a:pPr>
            <a:r>
              <a:rPr lang="vi-VN" sz="1800" dirty="0">
                <a:latin typeface="+mj-lt"/>
              </a:rPr>
              <a:t>Ứng dụng AI sinh keyword, luồng kiểm thử tự động.</a:t>
            </a:r>
          </a:p>
          <a:p>
            <a:pPr>
              <a:lnSpc>
                <a:spcPct val="150000"/>
              </a:lnSpc>
            </a:pPr>
            <a:r>
              <a:rPr lang="vi-VN" sz="1800" dirty="0">
                <a:latin typeface="+mj-lt"/>
              </a:rPr>
              <a:t>Hệ thống cho phép chuyển đổi từ luồng kiểm thử sang </a:t>
            </a:r>
            <a:r>
              <a:rPr lang="en-US" sz="1800" dirty="0">
                <a:latin typeface="Times  New Roman"/>
              </a:rPr>
              <a:t>script </a:t>
            </a:r>
            <a:r>
              <a:rPr lang="vi-VN" sz="1800" dirty="0">
                <a:latin typeface="Times  New Roman"/>
              </a:rPr>
              <a:t>Robot</a:t>
            </a:r>
            <a:r>
              <a:rPr lang="vi-VN" sz="1800" dirty="0">
                <a:latin typeface="+mj-lt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vi-VN" sz="1800" dirty="0">
                <a:latin typeface="+mj-lt"/>
              </a:rPr>
              <a:t>Mô hình Keyword-Driven </a:t>
            </a:r>
            <a:r>
              <a:rPr lang="en-US" sz="1800" dirty="0" err="1">
                <a:latin typeface="Times  New Roman"/>
              </a:rPr>
              <a:t>phân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tách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các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tầng</a:t>
            </a:r>
            <a:r>
              <a:rPr lang="en-US" sz="1800" dirty="0">
                <a:latin typeface="Times  New Roman"/>
              </a:rPr>
              <a:t> UI, Business </a:t>
            </a:r>
            <a:r>
              <a:rPr lang="en-US" sz="1800" dirty="0" err="1">
                <a:latin typeface="Times  New Roman"/>
              </a:rPr>
              <a:t>và</a:t>
            </a:r>
            <a:r>
              <a:rPr lang="en-US" sz="1800" dirty="0">
                <a:latin typeface="Times  New Roman"/>
              </a:rPr>
              <a:t> Verify</a:t>
            </a:r>
            <a:r>
              <a:rPr lang="vi-VN" sz="1800" dirty="0">
                <a:latin typeface="Times  New Roman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vi-VN" sz="1800" dirty="0">
                <a:latin typeface="+mj-lt"/>
              </a:rPr>
              <a:t>Ánh xạ keyword, xây luồng end-to-end.</a:t>
            </a:r>
          </a:p>
          <a:p>
            <a:pPr>
              <a:lnSpc>
                <a:spcPct val="150000"/>
              </a:lnSpc>
            </a:pPr>
            <a:r>
              <a:rPr lang="vi-VN" sz="1800" dirty="0">
                <a:latin typeface="+mj-lt"/>
              </a:rPr>
              <a:t>Kiểm thử chức năng tiêu biểu.</a:t>
            </a:r>
          </a:p>
          <a:p>
            <a:pPr>
              <a:lnSpc>
                <a:spcPct val="150000"/>
              </a:lnSpc>
            </a:pPr>
            <a:r>
              <a:rPr lang="vi-VN" sz="1800" dirty="0">
                <a:latin typeface="+mj-lt"/>
              </a:rPr>
              <a:t>Tích hợp báo cáo Allure, ghi Log, Screenshot.</a:t>
            </a:r>
          </a:p>
          <a:p>
            <a:pPr marL="114300" indent="0">
              <a:buNone/>
            </a:pPr>
            <a:endParaRPr lang="vi-VN" sz="1800" dirty="0">
              <a:latin typeface="+mj-lt"/>
            </a:endParaRPr>
          </a:p>
          <a:p>
            <a:pPr marL="114300" indent="0">
              <a:buNone/>
            </a:pPr>
            <a:endParaRPr lang="vi-VN" sz="1800" dirty="0">
              <a:latin typeface="+mj-lt"/>
            </a:endParaRPr>
          </a:p>
          <a:p>
            <a:pPr marL="114300" indent="0">
              <a:buNone/>
            </a:pPr>
            <a:r>
              <a:rPr lang="vi-VN" sz="1800" b="1" dirty="0">
                <a:latin typeface="+mj-lt"/>
              </a:rPr>
              <a:t>Hướng phát triển</a:t>
            </a:r>
          </a:p>
          <a:p>
            <a:pPr>
              <a:lnSpc>
                <a:spcPct val="150000"/>
              </a:lnSpc>
            </a:pPr>
            <a:r>
              <a:rPr lang="en-US" sz="1800" dirty="0" err="1">
                <a:latin typeface="Times  New Roman"/>
              </a:rPr>
              <a:t>Nâng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cao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khả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năng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hiểu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ngữ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cảnh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của</a:t>
            </a:r>
            <a:r>
              <a:rPr lang="en-US" sz="1800" dirty="0">
                <a:latin typeface="Times  New Roman"/>
              </a:rPr>
              <a:t> AI</a:t>
            </a:r>
            <a:r>
              <a:rPr lang="vi-VN" sz="1800" dirty="0">
                <a:latin typeface="Times  New Roman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vi-VN" sz="1800" dirty="0">
                <a:latin typeface="Times  New Roman"/>
              </a:rPr>
              <a:t>Tích hợp CI/CD.</a:t>
            </a:r>
          </a:p>
          <a:p>
            <a:pPr>
              <a:lnSpc>
                <a:spcPct val="150000"/>
              </a:lnSpc>
            </a:pPr>
            <a:r>
              <a:rPr lang="en-US" sz="1800" dirty="0" err="1">
                <a:latin typeface="Times  New Roman"/>
              </a:rPr>
              <a:t>Mở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rộng</a:t>
            </a:r>
            <a:r>
              <a:rPr lang="en-US" sz="1800" dirty="0">
                <a:latin typeface="Times  New Roman"/>
              </a:rPr>
              <a:t> framework </a:t>
            </a:r>
            <a:r>
              <a:rPr lang="en-US" sz="1800" dirty="0" err="1">
                <a:latin typeface="Times  New Roman"/>
              </a:rPr>
              <a:t>hỗ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trợ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kiểm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thử</a:t>
            </a:r>
            <a:r>
              <a:rPr lang="en-US" sz="1800" dirty="0">
                <a:latin typeface="Times  New Roman"/>
              </a:rPr>
              <a:t> API, Mobile </a:t>
            </a:r>
            <a:r>
              <a:rPr lang="en-US" sz="1800" dirty="0" err="1">
                <a:latin typeface="Times  New Roman"/>
              </a:rPr>
              <a:t>và</a:t>
            </a:r>
            <a:r>
              <a:rPr lang="en-US" sz="1800" dirty="0">
                <a:latin typeface="Times  New Roman"/>
              </a:rPr>
              <a:t> </a:t>
            </a:r>
            <a:r>
              <a:rPr lang="vi-VN" sz="1800" dirty="0">
                <a:latin typeface="Times  New Roman"/>
              </a:rPr>
              <a:t>Desktop.</a:t>
            </a:r>
          </a:p>
          <a:p>
            <a:endParaRPr lang="vi-VN" sz="1800" dirty="0">
              <a:latin typeface="+mj-lt"/>
            </a:endParaRPr>
          </a:p>
          <a:p>
            <a:pPr marL="114300" indent="0">
              <a:buNone/>
            </a:pPr>
            <a:endParaRPr lang="en-US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34608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6"/>
          <p:cNvSpPr txBox="1">
            <a:spLocks noGrp="1"/>
          </p:cNvSpPr>
          <p:nvPr>
            <p:ph type="title"/>
          </p:nvPr>
        </p:nvSpPr>
        <p:spPr>
          <a:xfrm>
            <a:off x="628650" y="355795"/>
            <a:ext cx="7886700" cy="614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1557</TotalTime>
  <Words>824</Words>
  <Application>Microsoft Office PowerPoint</Application>
  <PresentationFormat>On-screen Show (4:3)</PresentationFormat>
  <Paragraphs>91</Paragraphs>
  <Slides>22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Times New Roman</vt:lpstr>
      <vt:lpstr>Wingdings</vt:lpstr>
      <vt:lpstr>Calibri</vt:lpstr>
      <vt:lpstr>Arial</vt:lpstr>
      <vt:lpstr>Times  New Roman</vt:lpstr>
      <vt:lpstr>Office Theme</vt:lpstr>
      <vt:lpstr>ỨNG DỤNG AI SINH KEYWORD KIỂM THỬ TỰ ĐỘNG  ỨNG DỤNG WEB VỚI ROBOT FRAMEWORK  </vt:lpstr>
      <vt:lpstr>Nội dung</vt:lpstr>
      <vt:lpstr>Nội dung</vt:lpstr>
      <vt:lpstr>Tổng quan bài toán</vt:lpstr>
      <vt:lpstr>Nội dung</vt:lpstr>
      <vt:lpstr> Cơ chế AI sinh keyword và flow kiểm thử </vt:lpstr>
      <vt:lpstr>Nội dung</vt:lpstr>
      <vt:lpstr> Cấu trúc thư mục framework </vt:lpstr>
      <vt:lpstr> Luồng hoạt động của framework </vt:lpstr>
      <vt:lpstr>Nội dung</vt:lpstr>
      <vt:lpstr>Ứng dụng kiểm thử website Ella</vt:lpstr>
      <vt:lpstr>Minh họa kết quả thực nghiệm</vt:lpstr>
      <vt:lpstr>Minh họa kết quả thực nghiệm</vt:lpstr>
      <vt:lpstr>Minh họa kết quả thực nghiệm</vt:lpstr>
      <vt:lpstr>Minh họa kết quả thực nghiệm</vt:lpstr>
      <vt:lpstr>Minh họa kết quả thực nghiệm</vt:lpstr>
      <vt:lpstr>Minh họa kết quả thực nghiệm</vt:lpstr>
      <vt:lpstr>Minh họa kết quả thực nghiệm</vt:lpstr>
      <vt:lpstr>Minh họa kết quả thực nghiệm</vt:lpstr>
      <vt:lpstr>Nội dung</vt:lpstr>
      <vt:lpstr>Kết luận &amp; Hướng phát triển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KẾ HOẠCH PHÁT TRIỂN. QUẢN LÝ CẤU HÌNH PHẦN MỀM BẰNG SVN Đảm bảo chất lượng phần mềm</dc:title>
  <dc:creator>Đỗ Thị Thu Trang</dc:creator>
  <cp:lastModifiedBy>Dell</cp:lastModifiedBy>
  <cp:revision>191</cp:revision>
  <dcterms:created xsi:type="dcterms:W3CDTF">2024-09-27T15:40:07Z</dcterms:created>
  <dcterms:modified xsi:type="dcterms:W3CDTF">2026-05-12T16:54:11Z</dcterms:modified>
</cp:coreProperties>
</file>