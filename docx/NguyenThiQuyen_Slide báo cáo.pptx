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314" r:id="rId6"/>
    <p:sldId id="318" r:id="rId7"/>
    <p:sldId id="315" r:id="rId8"/>
    <p:sldId id="289" r:id="rId9"/>
    <p:sldId id="317" r:id="rId10"/>
    <p:sldId id="316" r:id="rId11"/>
    <p:sldId id="309" r:id="rId12"/>
    <p:sldId id="319" r:id="rId13"/>
    <p:sldId id="313" r:id="rId14"/>
    <p:sldId id="320" r:id="rId15"/>
    <p:sldId id="290" r:id="rId16"/>
    <p:sldId id="261" r:id="rId1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gzalF4DGvfEshU7BVqSP7oz0q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648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39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748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6854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0009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483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7456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2929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369278" y="3666392"/>
            <a:ext cx="5196254" cy="128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4500"/>
              <a:buFont typeface="Calibri"/>
              <a:buNone/>
              <a:defRPr sz="4500" b="1">
                <a:solidFill>
                  <a:srgbClr val="FEE5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369278" y="5178670"/>
            <a:ext cx="48487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solidFill>
                  <a:srgbClr val="F2F2F2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7163533" y="6559062"/>
            <a:ext cx="995729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90147" y="6559062"/>
            <a:ext cx="6873386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159262" y="6550271"/>
            <a:ext cx="703384" cy="2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07732" y="395654"/>
            <a:ext cx="844940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07732" y="16976"/>
            <a:ext cx="7526213" cy="57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3887390" y="987426"/>
            <a:ext cx="4948877" cy="5307866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07732" y="987425"/>
            <a:ext cx="3271287" cy="530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1833197" y="-646235"/>
            <a:ext cx="5512777" cy="856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893835" y="2555448"/>
            <a:ext cx="5271356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72418" y="640922"/>
            <a:ext cx="527135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307732" y="879230"/>
            <a:ext cx="8563706" cy="551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-868680" y="5357532"/>
            <a:ext cx="6985848" cy="259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vi-VN" sz="2000" dirty="0"/>
              <a:t>XÂY DỰNG FRAMEWORK KIỂM THỬ TỰ ĐỘNG </a:t>
            </a:r>
            <a:br>
              <a:rPr lang="en-US" sz="2000" dirty="0"/>
            </a:br>
            <a:r>
              <a:rPr lang="en-US" sz="2000" dirty="0"/>
              <a:t>CHO </a:t>
            </a:r>
            <a:r>
              <a:rPr lang="vi-VN" sz="2000" dirty="0"/>
              <a:t>ỨNG DỤNG WEB VÀ ỨNG DỤNG KIỂM THỬ </a:t>
            </a:r>
            <a:br>
              <a:rPr lang="en-US" sz="2000" dirty="0"/>
            </a:br>
            <a:r>
              <a:rPr lang="vi-VN" sz="2000" dirty="0"/>
              <a:t>CHO WEBSITE</a:t>
            </a:r>
            <a:r>
              <a:rPr lang="en-US" sz="2000" dirty="0"/>
              <a:t> DEBAC</a:t>
            </a:r>
            <a:br>
              <a:rPr lang="en-US" dirty="0"/>
            </a:br>
            <a:br>
              <a:rPr lang="en-US" dirty="0"/>
            </a:br>
            <a:endParaRPr sz="3000" dirty="0">
              <a:solidFill>
                <a:srgbClr val="FFFF00"/>
              </a:solidFill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35038" y="4626864"/>
            <a:ext cx="4848765" cy="10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vi-VN" sz="2000" dirty="0"/>
              <a:t>GVHD</a:t>
            </a:r>
            <a:r>
              <a:rPr lang="en-US" sz="2000" dirty="0"/>
              <a:t>: </a:t>
            </a:r>
            <a:r>
              <a:rPr lang="vi-VN" sz="2000" dirty="0"/>
              <a:t>ThS. </a:t>
            </a:r>
            <a:r>
              <a:rPr lang="vi-VN" sz="2000"/>
              <a:t>Đỗ Thị Thu </a:t>
            </a:r>
            <a:r>
              <a:rPr lang="vi-VN" sz="2000" dirty="0"/>
              <a:t>Trang</a:t>
            </a:r>
            <a:endParaRPr sz="2000" dirty="0"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2000" dirty="0"/>
              <a:t>SV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: </a:t>
            </a:r>
            <a:r>
              <a:rPr lang="vi-VN" sz="2000" dirty="0"/>
              <a:t>Nguyễn Thị Quyên 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KHOA CNTT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TRƯỜNG ĐẠI HỌC SPKT HƯNG YÊN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-3420" y="39442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2853775" y="2155320"/>
            <a:ext cx="554359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Thiết kế và xây dựng framework</a:t>
            </a:r>
            <a:endParaRPr dirty="0"/>
          </a:p>
        </p:txBody>
      </p:sp>
      <p:sp>
        <p:nvSpPr>
          <p:cNvPr id="98" name="Google Shape;98;p2"/>
          <p:cNvSpPr/>
          <p:nvPr/>
        </p:nvSpPr>
        <p:spPr>
          <a:xfrm>
            <a:off x="2972380" y="3489462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chemeClr val="tx1"/>
                </a:solidFill>
              </a:rPr>
              <a:t>Ứng dụng kiểm thử website DeBac</a:t>
            </a:r>
            <a:endParaRPr lang="vi-VN" sz="1800" dirty="0">
              <a:solidFill>
                <a:schemeClr val="tx1"/>
              </a:solidFill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810353" y="107143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Giới thiệu đề tài</a:t>
            </a: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51528" y="1173724"/>
            <a:ext cx="381000" cy="381000"/>
            <a:chOff x="2078" y="1680"/>
            <a:chExt cx="1615" cy="1615"/>
          </a:xfrm>
        </p:grpSpPr>
        <p:sp>
          <p:nvSpPr>
            <p:cNvPr id="101" name="Google Shape;10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2385180" y="2217303"/>
            <a:ext cx="381000" cy="381000"/>
            <a:chOff x="2078" y="1680"/>
            <a:chExt cx="1615" cy="1615"/>
          </a:xfrm>
        </p:grpSpPr>
        <p:sp>
          <p:nvSpPr>
            <p:cNvPr id="115" name="Google Shape;115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546624" y="3553316"/>
            <a:ext cx="355600" cy="381000"/>
            <a:chOff x="2078" y="1680"/>
            <a:chExt cx="1615" cy="1615"/>
          </a:xfrm>
        </p:grpSpPr>
        <p:sp>
          <p:nvSpPr>
            <p:cNvPr id="122" name="Google Shape;122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2189753" y="5818940"/>
            <a:ext cx="5343421" cy="529445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Q&amp;A  </a:t>
            </a:r>
            <a:endParaRPr dirty="0"/>
          </a:p>
        </p:txBody>
      </p:sp>
      <p:sp>
        <p:nvSpPr>
          <p:cNvPr id="136" name="Google Shape;136;p2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2881747" y="4773985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Kết luận &amp; Hướng phát triển</a:t>
            </a:r>
            <a:endParaRPr dirty="0"/>
          </a:p>
        </p:txBody>
      </p:sp>
      <p:grpSp>
        <p:nvGrpSpPr>
          <p:cNvPr id="140" name="Google Shape;140;p2"/>
          <p:cNvGrpSpPr/>
          <p:nvPr/>
        </p:nvGrpSpPr>
        <p:grpSpPr>
          <a:xfrm>
            <a:off x="2255782" y="4824312"/>
            <a:ext cx="381000" cy="381000"/>
            <a:chOff x="2078" y="1680"/>
            <a:chExt cx="1615" cy="1615"/>
          </a:xfrm>
        </p:grpSpPr>
        <p:sp>
          <p:nvSpPr>
            <p:cNvPr id="141" name="Google Shape;14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148" name="Google Shape;148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endParaRPr dirty="0"/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DeBac</a:t>
            </a: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Giới thiệu đề tài </a:t>
            </a:r>
            <a:endParaRPr dirty="0"/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dirty="0"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vi-VN" dirty="0"/>
              <a:t>Giới thiệu đề tài</a:t>
            </a:r>
            <a:endParaRPr dirty="0"/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vi-VN" sz="2000" b="1" dirty="0"/>
              <a:t>Tên đề tài: </a:t>
            </a:r>
            <a:r>
              <a:rPr lang="vi-VN" sz="2000" dirty="0"/>
              <a:t>Xây dựng framework kiểm thử tự động cho ứng dụng web và ứng dụng kiểm thử cho website DeBac.</a:t>
            </a:r>
          </a:p>
          <a:p>
            <a:endParaRPr lang="vi-VN" sz="2000" dirty="0"/>
          </a:p>
          <a:p>
            <a:r>
              <a:rPr lang="vi-VN" sz="2000" b="1" dirty="0"/>
              <a:t>Mục tiêu: Xây dựng Data Driven Framework </a:t>
            </a:r>
          </a:p>
          <a:p>
            <a:pPr marL="1262063" indent="-403225">
              <a:buFont typeface="Courier New" panose="02070309020205020404" pitchFamily="49" charset="0"/>
              <a:buChar char="o"/>
            </a:pPr>
            <a:r>
              <a:rPr lang="vi-VN" sz="2000" dirty="0"/>
              <a:t>Phát triển bằng Python, Selenium, pytest</a:t>
            </a:r>
          </a:p>
          <a:p>
            <a:pPr marL="1262063" indent="-403225">
              <a:buFont typeface="Courier New" panose="02070309020205020404" pitchFamily="49" charset="0"/>
              <a:buChar char="o"/>
            </a:pPr>
            <a:r>
              <a:rPr lang="vi-VN" sz="2000" dirty="0"/>
              <a:t>Cho phép tách riêng dữ liệu test ra khỏi mã kiểm thử</a:t>
            </a:r>
          </a:p>
          <a:p>
            <a:pPr marL="1262063" indent="-403225">
              <a:buFont typeface="Courier New" panose="02070309020205020404" pitchFamily="49" charset="0"/>
              <a:buChar char="o"/>
            </a:pPr>
            <a:r>
              <a:rPr lang="vi-VN" sz="2000" dirty="0"/>
              <a:t>Ứng dụng để kiểm thử tự động website TMDT</a:t>
            </a:r>
          </a:p>
          <a:p>
            <a:pPr marL="858838" indent="0">
              <a:buNone/>
            </a:pPr>
            <a:r>
              <a:rPr lang="vi-VN" sz="2000" dirty="0"/>
              <a:t>=&gt; Rút ngắn thời gian kiểm thử, ghi nhận kết quả, chụp ảnh khi lỗi xảy ra </a:t>
            </a:r>
            <a:endParaRPr lang="en-US" sz="2000" dirty="0"/>
          </a:p>
          <a:p>
            <a:pPr marL="228600" indent="-228600">
              <a:buSzPts val="2400"/>
            </a:pPr>
            <a:endParaRPr lang="vi-VN" sz="20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  <a:sym typeface="Arial"/>
              </a:rPr>
              <a:t>Thiết kế và xây dựng framework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DeBac</a:t>
            </a:r>
            <a:endParaRPr lang="vi-VN" sz="1800"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dirty="0"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556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AFE0-5F67-4EBA-AB1F-B85DFF4D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750" y="698988"/>
            <a:ext cx="3627882" cy="5912124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dirty="0"/>
              <a:t>📁 </a:t>
            </a:r>
            <a:r>
              <a:rPr lang="vi-VN" dirty="0"/>
              <a:t>FRAMEWORKTESTAUTO/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data/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data_test.xlsx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DataBase.db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DataBase.sql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login_data.csv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login_data.json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📄 (...</a:t>
            </a:r>
            <a:r>
              <a:rPr lang="vi-VN" dirty="0"/>
              <a:t>các file data khác...)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docs/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BaoCaoDA4_10122312.doc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Kiểm thử chức năng.xlsx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📄 </a:t>
            </a:r>
            <a:r>
              <a:rPr lang="vi-VN" dirty="0"/>
              <a:t>NguyenThiQuyen_Slide báo cáo.pptx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logs/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📄 </a:t>
            </a:r>
            <a:r>
              <a:rPr lang="vi-VN" dirty="0"/>
              <a:t>test_log.log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pages/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__</a:t>
            </a:r>
            <a:r>
              <a:rPr lang="vi-VN" dirty="0"/>
              <a:t>init__.py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base_page.py        (Lớp Base chứa hàm chung)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login_page.py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home_page.py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cart_page.py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product_page.py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📄 (...</a:t>
            </a:r>
            <a:r>
              <a:rPr lang="vi-VN" dirty="0"/>
              <a:t>các page object khác...)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reports/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📁 </a:t>
            </a:r>
            <a:r>
              <a:rPr lang="vi-VN" dirty="0"/>
              <a:t>screenshots/        (Nơi lưu ảnh chụp khi test FAIL)</a:t>
            </a:r>
          </a:p>
          <a:p>
            <a:pPr marL="114300" indent="0">
              <a:buNone/>
            </a:pPr>
            <a:r>
              <a:rPr lang="vi-VN" dirty="0"/>
              <a:t>│   └── (...Nơi chứa report.html...)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tests/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__</a:t>
            </a:r>
            <a:r>
              <a:rPr lang="vi-VN" dirty="0"/>
              <a:t>init__.py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conftest.py         (Chứa Fixtures: driver, data, report hook)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test_login.py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test_register.py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test_search.py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📄 (...</a:t>
            </a:r>
            <a:r>
              <a:rPr lang="vi-VN" dirty="0"/>
              <a:t>các file test case khác...)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</a:t>
            </a:r>
            <a:r>
              <a:rPr lang="vi-VN" dirty="0"/>
              <a:t>utils/ (Tiện ích)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__</a:t>
            </a:r>
            <a:r>
              <a:rPr lang="vi-VN" dirty="0"/>
              <a:t>init__.py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data_reader.py      (Đọc file data từ thư mục /data)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logger.py           (Cấu hình ghi log)</a:t>
            </a:r>
          </a:p>
          <a:p>
            <a:pPr marL="114300" indent="0">
              <a:buNone/>
            </a:pPr>
            <a:r>
              <a:rPr lang="vi-VN" dirty="0"/>
              <a:t>│   ├── </a:t>
            </a:r>
            <a:r>
              <a:rPr lang="en-US" dirty="0"/>
              <a:t>📄 </a:t>
            </a:r>
            <a:r>
              <a:rPr lang="vi-VN" dirty="0"/>
              <a:t>report_writer.py    (Ghi kết quả ra file Excel tùy chỉnh)</a:t>
            </a:r>
          </a:p>
          <a:p>
            <a:pPr marL="114300" indent="0">
              <a:buNone/>
            </a:pPr>
            <a:r>
              <a:rPr lang="vi-VN" dirty="0"/>
              <a:t>│   └── </a:t>
            </a:r>
            <a:r>
              <a:rPr lang="en-US" dirty="0"/>
              <a:t>📄 </a:t>
            </a:r>
            <a:r>
              <a:rPr lang="vi-VN" dirty="0"/>
              <a:t>create_db.py        (Script tạo database)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📄 </a:t>
            </a:r>
            <a:r>
              <a:rPr lang="vi-VN" dirty="0"/>
              <a:t>pytest.ini              (File cấu hình cho Pytest)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📄 </a:t>
            </a:r>
            <a:r>
              <a:rPr lang="vi-VN" dirty="0"/>
              <a:t>requirements.txt        (Danh sách thư viện cần cài đặt)</a:t>
            </a:r>
          </a:p>
          <a:p>
            <a:pPr marL="114300" indent="0">
              <a:buNone/>
            </a:pPr>
            <a:r>
              <a:rPr lang="vi-VN" dirty="0"/>
              <a:t>│</a:t>
            </a:r>
          </a:p>
          <a:p>
            <a:pPr marL="114300" indent="0">
              <a:buNone/>
            </a:pPr>
            <a:r>
              <a:rPr lang="vi-VN" dirty="0"/>
              <a:t>├── </a:t>
            </a:r>
            <a:r>
              <a:rPr lang="en-US" dirty="0"/>
              <a:t>📁 .</a:t>
            </a:r>
            <a:r>
              <a:rPr lang="vi-VN" dirty="0"/>
              <a:t>venv/                  (Môi trường ảo Python)</a:t>
            </a:r>
          </a:p>
          <a:p>
            <a:pPr marL="114300" indent="0">
              <a:buNone/>
            </a:pPr>
            <a:r>
              <a:rPr lang="vi-VN" dirty="0"/>
              <a:t>└── </a:t>
            </a:r>
            <a:r>
              <a:rPr lang="en-US" dirty="0"/>
              <a:t>📁 (</a:t>
            </a:r>
            <a:r>
              <a:rPr lang="vi-VN" dirty="0"/>
              <a:t>Các thư mục khác như .vscode, .pytest_cache...)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76138" y="898922"/>
            <a:ext cx="5616878" cy="554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vi-VN" sz="1800" b="1" dirty="0"/>
              <a:t>data:</a:t>
            </a:r>
            <a:r>
              <a:rPr lang="vi-VN" sz="1800" dirty="0"/>
              <a:t> Lưu trữ dữ liệu dùng cho việc test, tách biệt dữ liệu ra khỏi code (.json, .csv, .xlsx, .db)</a:t>
            </a:r>
            <a:endParaRPr lang="vi-VN" sz="1800" dirty="0">
              <a:latin typeface="+mn-lt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vi-VN" sz="1800" b="1" dirty="0">
                <a:latin typeface="+mn-lt"/>
              </a:rPr>
              <a:t>docs:</a:t>
            </a:r>
            <a:r>
              <a:rPr lang="vi-VN" sz="1800" dirty="0">
                <a:latin typeface="+mn-lt"/>
              </a:rPr>
              <a:t> </a:t>
            </a:r>
            <a:r>
              <a:rPr lang="en-US" sz="1800" dirty="0" err="1"/>
              <a:t>Chứa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tài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liên</a:t>
            </a:r>
            <a:r>
              <a:rPr lang="en-US" sz="1800" dirty="0"/>
              <a:t> </a:t>
            </a:r>
            <a:r>
              <a:rPr lang="en-US" sz="1800" dirty="0" err="1"/>
              <a:t>quan</a:t>
            </a:r>
            <a:endParaRPr lang="vi-VN" sz="1800" dirty="0"/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b="1" dirty="0"/>
              <a:t>.</a:t>
            </a:r>
            <a:r>
              <a:rPr lang="vi-VN" sz="1800" b="1" dirty="0"/>
              <a:t>venv: </a:t>
            </a:r>
            <a:r>
              <a:rPr lang="vi-VN" sz="1800" dirty="0"/>
              <a:t>Thư mục môi trường ảo (virtual environment)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vi-VN" sz="1800" b="1" dirty="0"/>
              <a:t>logs: </a:t>
            </a:r>
            <a:r>
              <a:rPr lang="vi-VN" sz="1800" dirty="0"/>
              <a:t>ghi lại chi tiết các bước test đã chạy, giúp tìm lỗi khi test thất bại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vi-VN" sz="1800" b="1" dirty="0"/>
              <a:t>pages:</a:t>
            </a:r>
            <a:r>
              <a:rPr lang="vi-VN" sz="1800" dirty="0"/>
              <a:t> </a:t>
            </a:r>
            <a:r>
              <a:rPr lang="vi-VN" sz="1800" b="1" dirty="0"/>
              <a:t>Tách biệt logic </a:t>
            </a:r>
            <a:r>
              <a:rPr lang="vi-VN" sz="1800" dirty="0"/>
              <a:t>của UI ra khỏi logic của test case.</a:t>
            </a:r>
          </a:p>
          <a:p>
            <a:pPr marL="342900" indent="58738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  base_page.py: Đây là lớp (class) cha. Nó chứa các hàm dùng chung cho tất cả các trang</a:t>
            </a:r>
          </a:p>
          <a:p>
            <a:pPr marL="342900" indent="58738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  login_page.py, home_page.py, cart_page.py...: đại diện cho một trang gồm các locator, methods.</a:t>
            </a:r>
          </a:p>
          <a:p>
            <a:pPr marL="342900" indent="58738"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vi-V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8886C-0E1B-449F-BCA5-0BD795A13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898922"/>
            <a:ext cx="2980944" cy="557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72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0" y="886968"/>
            <a:ext cx="5833872" cy="586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>
              <a:spcAft>
                <a:spcPts val="600"/>
              </a:spcAft>
              <a:buFont typeface="+mj-lt"/>
              <a:buAutoNum type="arabicPeriod" startAt="6"/>
            </a:pPr>
            <a:r>
              <a:rPr lang="vi-VN" sz="1800" b="1" dirty="0">
                <a:latin typeface="+mn-lt"/>
              </a:rPr>
              <a:t>pytest.ini: </a:t>
            </a:r>
            <a:r>
              <a:rPr lang="vi-VN" sz="1800" dirty="0">
                <a:latin typeface="+mn-lt"/>
              </a:rPr>
              <a:t>File cấu hình cho Pytest (test runner). định nghĩa các "markers" (đánh dấu), cài đặt đường dẫn, và các tùy chọn khác.</a:t>
            </a:r>
          </a:p>
          <a:p>
            <a:pPr>
              <a:spcAft>
                <a:spcPts val="600"/>
              </a:spcAft>
              <a:buFont typeface="+mj-lt"/>
              <a:buAutoNum type="arabicPeriod" startAt="6"/>
            </a:pPr>
            <a:r>
              <a:rPr lang="vi-VN" sz="1800" b="1" dirty="0">
                <a:latin typeface="+mn-lt"/>
              </a:rPr>
              <a:t>reports: </a:t>
            </a:r>
            <a:r>
              <a:rPr lang="vi-VN" sz="1800" dirty="0">
                <a:latin typeface="+mn-lt"/>
              </a:rPr>
              <a:t>nơi lưu trữ các báo cáo kết quả test, file HTML, excel.</a:t>
            </a:r>
          </a:p>
          <a:p>
            <a:pPr>
              <a:spcAft>
                <a:spcPts val="600"/>
              </a:spcAft>
              <a:buFont typeface="+mj-lt"/>
              <a:buAutoNum type="arabicPeriod" startAt="6"/>
            </a:pPr>
            <a:r>
              <a:rPr lang="vi-VN" sz="1800" b="1" dirty="0"/>
              <a:t>tests: </a:t>
            </a:r>
            <a:r>
              <a:rPr lang="en-US" sz="1800" dirty="0" err="1"/>
              <a:t>chứa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kịch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vi-VN" sz="1800" dirty="0"/>
              <a:t>test.</a:t>
            </a:r>
          </a:p>
          <a:p>
            <a:pPr indent="-555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 conftest.py: Chứa các Fixture chuẩn bị môi trường test (setup) và dọn dẹp sau khi test (teardown); </a:t>
            </a:r>
            <a:r>
              <a:rPr lang="en-US" sz="1800" dirty="0" err="1"/>
              <a:t>Báo</a:t>
            </a:r>
            <a:r>
              <a:rPr lang="en-US" sz="1800" dirty="0"/>
              <a:t> </a:t>
            </a:r>
            <a:r>
              <a:rPr lang="en-US" sz="1800" dirty="0" err="1"/>
              <a:t>cáo</a:t>
            </a:r>
            <a:r>
              <a:rPr lang="en-US" sz="1800" dirty="0"/>
              <a:t> &amp; </a:t>
            </a:r>
            <a:r>
              <a:rPr lang="en-US" sz="1800" dirty="0" err="1"/>
              <a:t>Chụp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Lỗi</a:t>
            </a:r>
            <a:r>
              <a:rPr lang="en-US" sz="1800" dirty="0"/>
              <a:t> (Hook </a:t>
            </a:r>
            <a:r>
              <a:rPr lang="en-US" sz="1800" dirty="0" err="1"/>
              <a:t>pytest_runtest_makereport</a:t>
            </a:r>
            <a:r>
              <a:rPr lang="en-US" sz="1800" dirty="0"/>
              <a:t>)</a:t>
            </a:r>
            <a:endParaRPr lang="vi-VN" sz="1800" dirty="0"/>
          </a:p>
          <a:p>
            <a:pPr indent="-555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 test_login.py, test_order.py, test_profile.py...:file chứa các test case</a:t>
            </a:r>
          </a:p>
          <a:p>
            <a:pPr>
              <a:spcAft>
                <a:spcPts val="600"/>
              </a:spcAft>
              <a:buFont typeface="+mj-lt"/>
              <a:buAutoNum type="arabicPeriod" startAt="9"/>
            </a:pPr>
            <a:r>
              <a:rPr lang="vi-VN" sz="1800" b="1" dirty="0"/>
              <a:t>utils: </a:t>
            </a:r>
            <a:r>
              <a:rPr lang="vi-VN" sz="1800" dirty="0"/>
              <a:t>chứa các hàm tiện ích</a:t>
            </a:r>
          </a:p>
          <a:p>
            <a:pPr marL="401638" indent="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  data_reader.py: chứa các hàm đọc dữ liệu từ các file .json, .csv, .xlsx, .db</a:t>
            </a:r>
          </a:p>
          <a:p>
            <a:pPr marL="401638" indent="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>
                <a:latin typeface="+mn-lt"/>
              </a:rPr>
              <a:t>  logger.py: Cấu hình để tạo file log</a:t>
            </a:r>
          </a:p>
          <a:p>
            <a:pPr marL="401638" indent="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>
                <a:latin typeface="+mn-lt"/>
              </a:rPr>
              <a:t>  report_writer.py: tạo, cấu hình, xử lý file báo cáo</a:t>
            </a:r>
          </a:p>
          <a:p>
            <a:pPr marL="401638" indent="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>
                <a:latin typeface="+mn-lt"/>
              </a:rPr>
              <a:t> create_db.py: Script dùng một lần để tạo file DataBase.db từ DataBase.sql.</a:t>
            </a:r>
          </a:p>
          <a:p>
            <a:pPr marL="398463">
              <a:spcAft>
                <a:spcPts val="600"/>
              </a:spcAft>
              <a:buFont typeface="+mj-lt"/>
              <a:buAutoNum type="arabicPeriod" startAt="10"/>
            </a:pPr>
            <a:r>
              <a:rPr lang="vi-VN" sz="1800" b="1" dirty="0">
                <a:latin typeface="+mn-lt"/>
              </a:rPr>
              <a:t> requirements.txt: </a:t>
            </a:r>
            <a:r>
              <a:rPr lang="vi-VN" sz="1800" dirty="0">
                <a:latin typeface="+mn-lt"/>
              </a:rPr>
              <a:t>Danh sách các thư viện Python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243CD-10ED-480C-8CD6-2EB1CB4E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010" y="860652"/>
            <a:ext cx="3083990" cy="560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2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91440" y="608858"/>
            <a:ext cx="3803904" cy="586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vi-VN" sz="2400" b="1" dirty="0">
                <a:latin typeface="+mn-lt"/>
              </a:rPr>
              <a:t>Luồng thực thi: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Excel/CSV/JSON/DB Data 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DataReader / conftest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Pytest Test Script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Page Object (LoginPage, ProfilePage, ...)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BasePage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Selenium WebDriver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Browser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Assertion (expected vs actual)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Report (HTML/Excel)</a:t>
            </a:r>
          </a:p>
          <a:p>
            <a:pPr marL="114300" indent="0">
              <a:spcAft>
                <a:spcPts val="600"/>
              </a:spcAft>
              <a:buNone/>
            </a:pPr>
            <a:endParaRPr lang="vi-VN" sz="18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82BF41-F8C3-4BB0-AD45-221ABA2FA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1098631"/>
            <a:ext cx="4882896" cy="484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Bắt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lệnh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case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tests/</a:t>
            </a:r>
            <a:endParaRPr kumimoji="0" lang="vi-V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vào: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Excel/CSV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DataReader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khởi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Page Object</a:t>
            </a:r>
            <a:r>
              <a:rPr kumimoji="0" lang="vi-V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tương ứng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Object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BasePage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Object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WebDriver</a:t>
            </a:r>
            <a:endParaRPr kumimoji="0" lang="vi-V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test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kiện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(assert)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cáo</a:t>
            </a:r>
            <a:endParaRPr lang="vi-VN" altLang="en-US" sz="1600" dirty="0">
              <a:solidFill>
                <a:schemeClr val="tx1"/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thúc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2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</a:rPr>
              <a:t>Ứng dụng kiểm thử website DeBac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0414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0509-8983-4F0F-BAD9-0CE02937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Ứng dụng kiểm thử website Debac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3669D-39B8-480E-891A-DBA5673F8F64}"/>
              </a:ext>
            </a:extLst>
          </p:cNvPr>
          <p:cNvSpPr txBox="1"/>
          <p:nvPr/>
        </p:nvSpPr>
        <p:spPr>
          <a:xfrm>
            <a:off x="960043" y="699165"/>
            <a:ext cx="76053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Ứng dụng kiểm thử Website TMĐT debac.vn </a:t>
            </a:r>
          </a:p>
          <a:p>
            <a:r>
              <a:rPr lang="vi-VN" sz="1600" dirty="0"/>
              <a:t>Các nghiệp vụ chính: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Đăng nhập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Đăng ký tài khoản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Tìm kiếm sản phẩm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Đặt hàng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Cập nhật hồ sơ người dùng</a:t>
            </a:r>
          </a:p>
          <a:p>
            <a:r>
              <a:rPr lang="vi-VN" sz="1600" dirty="0"/>
              <a:t>Hướng kiểm thử: hướng dữ liệu (Data-Driven Testing) với dữ liệu đầu vào dạng .csv, .xlsx, .json, .db (các chức năng lặp lại thao tác giống nhau, dữ liệu đầu vào thay đổi)</a:t>
            </a:r>
          </a:p>
          <a:p>
            <a:r>
              <a:rPr lang="vi-VN" sz="1600" dirty="0"/>
              <a:t>=&gt; dễ mở rộng không cần chỉnh code</a:t>
            </a:r>
          </a:p>
          <a:p>
            <a:endParaRPr lang="en-US" sz="16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892585-DA20-42F0-9D65-BFE7B36EF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337578"/>
              </p:ext>
            </p:extLst>
          </p:nvPr>
        </p:nvGraphicFramePr>
        <p:xfrm>
          <a:off x="1524000" y="3627281"/>
          <a:ext cx="6096000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01067909"/>
                    </a:ext>
                  </a:extLst>
                </a:gridCol>
                <a:gridCol w="1528395">
                  <a:extLst>
                    <a:ext uri="{9D8B030D-6E8A-4147-A177-3AD203B41FA5}">
                      <a16:colId xmlns:a16="http://schemas.microsoft.com/office/drawing/2014/main" val="769896204"/>
                    </a:ext>
                  </a:extLst>
                </a:gridCol>
                <a:gridCol w="1519605">
                  <a:extLst>
                    <a:ext uri="{9D8B030D-6E8A-4147-A177-3AD203B41FA5}">
                      <a16:colId xmlns:a16="http://schemas.microsoft.com/office/drawing/2014/main" val="39230021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47772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Chức năng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Số lượng kịch bản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Pass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Fail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007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nhập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36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3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ký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33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Tìm kiếm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040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Đặt hàng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1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Cập nhật thông tin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48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Tổng số</a:t>
                      </a:r>
                      <a:endParaRPr 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/>
                        <a:t>164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/>
                        <a:t>44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68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06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DeBac</a:t>
            </a:r>
            <a:endParaRPr lang="vi-VN" sz="1800"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</a:rPr>
              <a:t>Kết luận &amp; Hướng phát triển </a:t>
            </a:r>
            <a:endParaRPr sz="1800" b="1" dirty="0">
              <a:solidFill>
                <a:schemeClr val="tx1"/>
              </a:solidFill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82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DDF4-60FF-4E0D-82DB-C606FF33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luận &amp; Hướng phát triển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908F3-7D69-4887-9BC1-7F70C3CA8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vi-VN" sz="1800" b="1" dirty="0"/>
          </a:p>
          <a:p>
            <a:pPr marL="114300" indent="0">
              <a:buNone/>
            </a:pPr>
            <a:r>
              <a:rPr lang="vi-VN" sz="1800" b="1" dirty="0"/>
              <a:t>Kết quả đạt được</a:t>
            </a:r>
          </a:p>
          <a:p>
            <a:r>
              <a:rPr lang="vi-VN" sz="1800" dirty="0"/>
              <a:t>Framework Selenium, Pytest.</a:t>
            </a:r>
          </a:p>
          <a:p>
            <a:r>
              <a:rPr lang="vi-VN" sz="1800" dirty="0"/>
              <a:t>Mô hình Data-Driven, POM.</a:t>
            </a:r>
          </a:p>
          <a:p>
            <a:r>
              <a:rPr lang="vi-VN" sz="1800" dirty="0"/>
              <a:t>Kiểm thử chức năng tiêu biểu.</a:t>
            </a:r>
          </a:p>
          <a:p>
            <a:r>
              <a:rPr lang="vi-VN" sz="1800" dirty="0"/>
              <a:t>Tích hợp báo cáo vào Excel, báo cáo</a:t>
            </a:r>
            <a:r>
              <a:rPr lang="en-US" sz="1800" dirty="0"/>
              <a:t> html</a:t>
            </a:r>
            <a:r>
              <a:rPr lang="vi-VN" sz="1800" dirty="0"/>
              <a:t>.</a:t>
            </a:r>
          </a:p>
          <a:p>
            <a:pPr marL="114300" indent="0">
              <a:buNone/>
            </a:pPr>
            <a:endParaRPr lang="vi-VN" sz="1800" dirty="0"/>
          </a:p>
          <a:p>
            <a:pPr marL="114300" indent="0">
              <a:buNone/>
            </a:pPr>
            <a:endParaRPr lang="vi-VN" sz="1800" dirty="0"/>
          </a:p>
          <a:p>
            <a:pPr marL="114300" indent="0">
              <a:buNone/>
            </a:pPr>
            <a:r>
              <a:rPr lang="vi-VN" sz="1800" b="1" dirty="0"/>
              <a:t>Hạn chế</a:t>
            </a:r>
          </a:p>
          <a:p>
            <a:r>
              <a:rPr lang="vi-VN" sz="1800" dirty="0"/>
              <a:t>Chưa bao phủ toàn bộ tính năng.</a:t>
            </a:r>
          </a:p>
          <a:p>
            <a:r>
              <a:rPr lang="vi-VN" sz="1800" dirty="0"/>
              <a:t>Chưa tích hợp CI/CD.</a:t>
            </a:r>
          </a:p>
          <a:p>
            <a:r>
              <a:rPr lang="vi-VN" sz="1800" dirty="0"/>
              <a:t>Chưa kiểm thử hiệu năng, cross-browser.</a:t>
            </a:r>
          </a:p>
          <a:p>
            <a:r>
              <a:rPr lang="vi-VN" sz="1800" dirty="0"/>
              <a:t>Chưa sử dụng Allure report để xem chi tiết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Ứng dụng kiểm thử website DeBac</a:t>
            </a:r>
            <a:endParaRPr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sym typeface="Arial"/>
              </a:rPr>
              <a:t>Q&amp;A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82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0C45-2E0C-4297-A229-9012E964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n-lt"/>
              </a:rPr>
              <a:t>Q&amp;A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6E52A-B399-4E50-8F46-894B53A1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0737" y="862013"/>
            <a:ext cx="7132050" cy="609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 algn="ctr">
              <a:buNone/>
            </a:pPr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“Learning to code can change your life”</a:t>
            </a:r>
          </a:p>
        </p:txBody>
      </p:sp>
      <p:pic>
        <p:nvPicPr>
          <p:cNvPr id="5" name="Picture 2" descr="Image result for Q&amp;A">
            <a:extLst>
              <a:ext uri="{FF2B5EF4-FFF2-40B4-BE49-F238E27FC236}">
                <a16:creationId xmlns:a16="http://schemas.microsoft.com/office/drawing/2014/main" id="{652982FD-83F2-46A5-8B14-5AB58432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1619250"/>
            <a:ext cx="31623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4F69E6-D957-43A4-854E-CDFB48BD64A3}"/>
              </a:ext>
            </a:extLst>
          </p:cNvPr>
          <p:cNvSpPr/>
          <p:nvPr/>
        </p:nvSpPr>
        <p:spPr>
          <a:xfrm>
            <a:off x="310173" y="4781550"/>
            <a:ext cx="85236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Everybody in this country should learn to program </a:t>
            </a:r>
            <a:b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computer, because it teaches you how to think.</a:t>
            </a:r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28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2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2800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Steve Jobs --</a:t>
            </a:r>
          </a:p>
        </p:txBody>
      </p:sp>
    </p:spTree>
    <p:extLst>
      <p:ext uri="{BB962C8B-B14F-4D97-AF65-F5344CB8AC3E}">
        <p14:creationId xmlns:p14="http://schemas.microsoft.com/office/powerpoint/2010/main" val="136438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>
            <a:spLocks noGrp="1"/>
          </p:cNvSpPr>
          <p:nvPr>
            <p:ph type="title"/>
          </p:nvPr>
        </p:nvSpPr>
        <p:spPr>
          <a:xfrm>
            <a:off x="628650" y="355795"/>
            <a:ext cx="7886700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1454</Words>
  <Application>Microsoft Office PowerPoint</Application>
  <PresentationFormat>On-screen Show (4:3)</PresentationFormat>
  <Paragraphs>206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Arial Unicode MS</vt:lpstr>
      <vt:lpstr>Courier New</vt:lpstr>
      <vt:lpstr>Office Theme</vt:lpstr>
      <vt:lpstr>XÂY DỰNG FRAMEWORK KIỂM THỬ TỰ ĐỘNG  CHO ỨNG DỤNG WEB VÀ ỨNG DỤNG KIỂM THỬ  CHO WEBSITE DEBAC  </vt:lpstr>
      <vt:lpstr>Nội dung</vt:lpstr>
      <vt:lpstr>Nội dung</vt:lpstr>
      <vt:lpstr>Giới thiệu đề tài</vt:lpstr>
      <vt:lpstr>Nội dung</vt:lpstr>
      <vt:lpstr> Thiết kế và xây dựng framework </vt:lpstr>
      <vt:lpstr> Thiết kế và xây dựng framework </vt:lpstr>
      <vt:lpstr> Thiết kế và xây dựng framework </vt:lpstr>
      <vt:lpstr> Thiết kế và xây dựng framework </vt:lpstr>
      <vt:lpstr>Nội dung</vt:lpstr>
      <vt:lpstr>Ứng dụng kiểm thử website Debac</vt:lpstr>
      <vt:lpstr>Nội dung</vt:lpstr>
      <vt:lpstr>Kết luận &amp; Hướng phát triển</vt:lpstr>
      <vt:lpstr>Nội dung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PHÁT TRIỂN. QUẢN LÝ CẤU HÌNH PHẦN MỀM BẰNG SVN Đảm bảo chất lượng phần mềm</dc:title>
  <dc:creator>Đỗ Thị Thu Trang</dc:creator>
  <cp:lastModifiedBy>Dell</cp:lastModifiedBy>
  <cp:revision>143</cp:revision>
  <dcterms:created xsi:type="dcterms:W3CDTF">2024-09-27T15:40:07Z</dcterms:created>
  <dcterms:modified xsi:type="dcterms:W3CDTF">2025-10-27T00:28:25Z</dcterms:modified>
</cp:coreProperties>
</file>